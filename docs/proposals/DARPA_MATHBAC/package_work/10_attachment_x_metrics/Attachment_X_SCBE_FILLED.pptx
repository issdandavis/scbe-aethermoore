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59" r:id="rId4"/>
  </p:sldMasterIdLst>
  <p:notesMasterIdLst>
    <p:notesMasterId r:id="rId9"/>
  </p:notesMasterIdLst>
  <p:handoutMasterIdLst>
    <p:handoutMasterId r:id="rId10"/>
  </p:handoutMasterIdLst>
  <p:sldIdLst>
    <p:sldId id="300" r:id="rId17"/>
    <p:sldId id="301" r:id="rId18"/>
    <p:sldId id="302" r:id="rId19"/>
    <p:sldId id="303" r:id="rId20"/>
    <p:sldId id="304" r:id="rId2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8BAC67-E832-435C-2CA1-1EAAE362B338}" name="Wenzel, Scott" initials="SW" userId="S::scott.wenzel@darpa.mil::6177102c-6aeb-48d4-bfb7-680ae47230e5" providerId="AD"/>
  <p188:author id="{CF4695A3-11BD-B668-C167-F545ACFF57B2}" name="Bauer, John" initials="JB" userId="S::john.bauer@darpa.mil::1a55b2ec-f826-4180-bc7f-4171400861f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0" y="32"/>
      </p:cViewPr>
      <p:guideLst>
        <p:guide orient="horz" pos="2162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zar, Robert (contr-dso)" userId="467fb775-32d2-434c-9279-3b95037ad4fe" providerId="ADAL" clId="{233524C9-536F-4FA9-891F-BF081E800E1E}"/>
    <pc:docChg chg="undo redo custSel modSld modMainMaster">
      <pc:chgData name="Lazar, Robert (contr-dso)" userId="467fb775-32d2-434c-9279-3b95037ad4fe" providerId="ADAL" clId="{233524C9-536F-4FA9-891F-BF081E800E1E}" dt="2026-03-04T17:24:44.608" v="522"/>
      <pc:docMkLst>
        <pc:docMk/>
      </pc:docMkLst>
      <pc:sldChg chg="modSp mod">
        <pc:chgData name="Lazar, Robert (contr-dso)" userId="467fb775-32d2-434c-9279-3b95037ad4fe" providerId="ADAL" clId="{233524C9-536F-4FA9-891F-BF081E800E1E}" dt="2026-02-25T18:20:18.369" v="492" actId="1076"/>
        <pc:sldMkLst>
          <pc:docMk/>
          <pc:sldMk cId="473592482" sldId="288"/>
        </pc:sldMkLst>
        <pc:spChg chg="mod">
          <ac:chgData name="Lazar, Robert (contr-dso)" userId="467fb775-32d2-434c-9279-3b95037ad4fe" providerId="ADAL" clId="{233524C9-536F-4FA9-891F-BF081E800E1E}" dt="2026-02-25T17:59:25.239" v="58" actId="313"/>
          <ac:spMkLst>
            <pc:docMk/>
            <pc:sldMk cId="473592482" sldId="288"/>
            <ac:spMk id="7" creationId="{3A124C9B-2DFD-AC2C-BBE7-65BD74080D4A}"/>
          </ac:spMkLst>
        </pc:spChg>
        <pc:spChg chg="mod">
          <ac:chgData name="Lazar, Robert (contr-dso)" userId="467fb775-32d2-434c-9279-3b95037ad4fe" providerId="ADAL" clId="{233524C9-536F-4FA9-891F-BF081E800E1E}" dt="2026-02-25T17:58:55.006" v="51" actId="20577"/>
          <ac:spMkLst>
            <pc:docMk/>
            <pc:sldMk cId="473592482" sldId="288"/>
            <ac:spMk id="8" creationId="{D75CDA05-3226-8170-8C42-4E14B45F2F29}"/>
          </ac:spMkLst>
        </pc:spChg>
        <pc:spChg chg="mod">
          <ac:chgData name="Lazar, Robert (contr-dso)" userId="467fb775-32d2-434c-9279-3b95037ad4fe" providerId="ADAL" clId="{233524C9-536F-4FA9-891F-BF081E800E1E}" dt="2026-02-25T18:20:18.369" v="492" actId="1076"/>
          <ac:spMkLst>
            <pc:docMk/>
            <pc:sldMk cId="473592482" sldId="288"/>
            <ac:spMk id="12" creationId="{44F1CF84-EFF8-7A24-6982-53F64ED09494}"/>
          </ac:spMkLst>
        </pc:spChg>
        <pc:graphicFrameChg chg="modGraphic">
          <ac:chgData name="Lazar, Robert (contr-dso)" userId="467fb775-32d2-434c-9279-3b95037ad4fe" providerId="ADAL" clId="{233524C9-536F-4FA9-891F-BF081E800E1E}" dt="2026-02-25T18:06:21.307" v="279" actId="108"/>
          <ac:graphicFrameMkLst>
            <pc:docMk/>
            <pc:sldMk cId="473592482" sldId="288"/>
            <ac:graphicFrameMk id="15" creationId="{C88E11EC-C1CF-5B92-CE3F-4040E892D25B}"/>
          </ac:graphicFrameMkLst>
        </pc:graphicFrameChg>
      </pc:sldChg>
      <pc:sldChg chg="addSp modSp mod">
        <pc:chgData name="Lazar, Robert (contr-dso)" userId="467fb775-32d2-434c-9279-3b95037ad4fe" providerId="ADAL" clId="{233524C9-536F-4FA9-891F-BF081E800E1E}" dt="2026-03-04T17:24:44.608" v="522"/>
        <pc:sldMkLst>
          <pc:docMk/>
          <pc:sldMk cId="3384051261" sldId="289"/>
        </pc:sldMkLst>
        <pc:spChg chg="mod ord">
          <ac:chgData name="Lazar, Robert (contr-dso)" userId="467fb775-32d2-434c-9279-3b95037ad4fe" providerId="ADAL" clId="{233524C9-536F-4FA9-891F-BF081E800E1E}" dt="2026-03-04T17:24:44.608" v="522"/>
          <ac:spMkLst>
            <pc:docMk/>
            <pc:sldMk cId="3384051261" sldId="289"/>
            <ac:spMk id="6" creationId="{68DBDB3B-6DDA-01D8-9B57-0F67820CF59D}"/>
          </ac:spMkLst>
        </pc:spChg>
        <pc:spChg chg="add mod">
          <ac:chgData name="Lazar, Robert (contr-dso)" userId="467fb775-32d2-434c-9279-3b95037ad4fe" providerId="ADAL" clId="{233524C9-536F-4FA9-891F-BF081E800E1E}" dt="2026-02-25T18:20:52.081" v="505" actId="20577"/>
          <ac:spMkLst>
            <pc:docMk/>
            <pc:sldMk cId="3384051261" sldId="289"/>
            <ac:spMk id="10" creationId="{9199DBC4-6B1D-0EF0-B75C-57DAF9AE6837}"/>
          </ac:spMkLst>
        </pc:spChg>
        <pc:graphicFrameChg chg="modGraphic">
          <ac:chgData name="Lazar, Robert (contr-dso)" userId="467fb775-32d2-434c-9279-3b95037ad4fe" providerId="ADAL" clId="{233524C9-536F-4FA9-891F-BF081E800E1E}" dt="2026-02-25T18:10:24.996" v="336" actId="20577"/>
          <ac:graphicFrameMkLst>
            <pc:docMk/>
            <pc:sldMk cId="3384051261" sldId="289"/>
            <ac:graphicFrameMk id="5" creationId="{5ED38829-89FD-43B3-D751-3B779549D7A2}"/>
          </ac:graphicFrameMkLst>
        </pc:graphicFrameChg>
        <pc:graphicFrameChg chg="mod modGraphic">
          <ac:chgData name="Lazar, Robert (contr-dso)" userId="467fb775-32d2-434c-9279-3b95037ad4fe" providerId="ADAL" clId="{233524C9-536F-4FA9-891F-BF081E800E1E}" dt="2026-02-25T18:11:42.578" v="364" actId="20577"/>
          <ac:graphicFrameMkLst>
            <pc:docMk/>
            <pc:sldMk cId="3384051261" sldId="289"/>
            <ac:graphicFrameMk id="9" creationId="{A06E5546-61D8-4270-7C95-7466FF7DE12C}"/>
          </ac:graphicFrameMkLst>
        </pc:graphicFrameChg>
      </pc:sldChg>
      <pc:sldChg chg="modSp mod">
        <pc:chgData name="Lazar, Robert (contr-dso)" userId="467fb775-32d2-434c-9279-3b95037ad4fe" providerId="ADAL" clId="{233524C9-536F-4FA9-891F-BF081E800E1E}" dt="2026-02-25T18:13:51.417" v="408" actId="20577"/>
        <pc:sldMkLst>
          <pc:docMk/>
          <pc:sldMk cId="4156281685" sldId="290"/>
        </pc:sldMkLst>
        <pc:spChg chg="mod">
          <ac:chgData name="Lazar, Robert (contr-dso)" userId="467fb775-32d2-434c-9279-3b95037ad4fe" providerId="ADAL" clId="{233524C9-536F-4FA9-891F-BF081E800E1E}" dt="2026-02-25T18:13:51.417" v="408" actId="20577"/>
          <ac:spMkLst>
            <pc:docMk/>
            <pc:sldMk cId="4156281685" sldId="290"/>
            <ac:spMk id="5" creationId="{72150333-1EC8-C875-242B-CEC63DA39C23}"/>
          </ac:spMkLst>
        </pc:spChg>
        <pc:spChg chg="mod">
          <ac:chgData name="Lazar, Robert (contr-dso)" userId="467fb775-32d2-434c-9279-3b95037ad4fe" providerId="ADAL" clId="{233524C9-536F-4FA9-891F-BF081E800E1E}" dt="2026-02-25T18:13:11.519" v="391" actId="20577"/>
          <ac:spMkLst>
            <pc:docMk/>
            <pc:sldMk cId="4156281685" sldId="290"/>
            <ac:spMk id="6" creationId="{67ACB1AF-AC17-DEED-5038-4B3FC3F569C5}"/>
          </ac:spMkLst>
        </pc:spChg>
      </pc:sldChg>
      <pc:sldChg chg="modSp mod">
        <pc:chgData name="Lazar, Robert (contr-dso)" userId="467fb775-32d2-434c-9279-3b95037ad4fe" providerId="ADAL" clId="{233524C9-536F-4FA9-891F-BF081E800E1E}" dt="2026-02-25T17:57:52.778" v="32" actId="20577"/>
        <pc:sldMkLst>
          <pc:docMk/>
          <pc:sldMk cId="4212424936" sldId="291"/>
        </pc:sldMkLst>
        <pc:spChg chg="mod">
          <ac:chgData name="Lazar, Robert (contr-dso)" userId="467fb775-32d2-434c-9279-3b95037ad4fe" providerId="ADAL" clId="{233524C9-536F-4FA9-891F-BF081E800E1E}" dt="2026-02-25T17:57:52.778" v="32" actId="20577"/>
          <ac:spMkLst>
            <pc:docMk/>
            <pc:sldMk cId="4212424936" sldId="291"/>
            <ac:spMk id="7" creationId="{BAA57150-3896-CE76-1E3F-206C43A77313}"/>
          </ac:spMkLst>
        </pc:spChg>
      </pc:sldChg>
      <pc:sldMasterChg chg="modSldLayout">
        <pc:chgData name="Lazar, Robert (contr-dso)" userId="467fb775-32d2-434c-9279-3b95037ad4fe" providerId="ADAL" clId="{233524C9-536F-4FA9-891F-BF081E800E1E}" dt="2026-02-25T18:21:36.347" v="515" actId="20577"/>
        <pc:sldMasterMkLst>
          <pc:docMk/>
          <pc:sldMasterMk cId="1211192292" sldId="2147483759"/>
        </pc:sldMasterMkLst>
        <pc:sldLayoutChg chg="modSp mod">
          <pc:chgData name="Lazar, Robert (contr-dso)" userId="467fb775-32d2-434c-9279-3b95037ad4fe" providerId="ADAL" clId="{233524C9-536F-4FA9-891F-BF081E800E1E}" dt="2026-02-25T18:03:03.759" v="153" actId="20577"/>
          <pc:sldLayoutMkLst>
            <pc:docMk/>
            <pc:sldMasterMk cId="1211192292" sldId="2147483759"/>
            <pc:sldLayoutMk cId="4232241876" sldId="2147483768"/>
          </pc:sldLayoutMkLst>
          <pc:spChg chg="mod">
            <ac:chgData name="Lazar, Robert (contr-dso)" userId="467fb775-32d2-434c-9279-3b95037ad4fe" providerId="ADAL" clId="{233524C9-536F-4FA9-891F-BF081E800E1E}" dt="2026-02-25T18:03:03.759" v="153" actId="20577"/>
            <ac:spMkLst>
              <pc:docMk/>
              <pc:sldMasterMk cId="1211192292" sldId="2147483759"/>
              <pc:sldLayoutMk cId="4232241876" sldId="2147483768"/>
              <ac:spMk id="12" creationId="{00000000-0000-0000-0000-000000000000}"/>
            </ac:spMkLst>
          </pc:spChg>
          <pc:spChg chg="mod">
            <ac:chgData name="Lazar, Robert (contr-dso)" userId="467fb775-32d2-434c-9279-3b95037ad4fe" providerId="ADAL" clId="{233524C9-536F-4FA9-891F-BF081E800E1E}" dt="2026-02-25T18:02:37.951" v="145" actId="554"/>
            <ac:spMkLst>
              <pc:docMk/>
              <pc:sldMasterMk cId="1211192292" sldId="2147483759"/>
              <pc:sldLayoutMk cId="4232241876" sldId="2147483768"/>
              <ac:spMk id="14" creationId="{00000000-0000-0000-0000-000000000000}"/>
            </ac:spMkLst>
          </pc:spChg>
        </pc:sldLayoutChg>
        <pc:sldLayoutChg chg="modSp mod">
          <pc:chgData name="Lazar, Robert (contr-dso)" userId="467fb775-32d2-434c-9279-3b95037ad4fe" providerId="ADAL" clId="{233524C9-536F-4FA9-891F-BF081E800E1E}" dt="2026-02-25T18:21:36.347" v="515" actId="20577"/>
          <pc:sldLayoutMkLst>
            <pc:docMk/>
            <pc:sldMasterMk cId="1211192292" sldId="2147483759"/>
            <pc:sldLayoutMk cId="918488706" sldId="2147483769"/>
          </pc:sldLayoutMkLst>
          <pc:spChg chg="mod">
            <ac:chgData name="Lazar, Robert (contr-dso)" userId="467fb775-32d2-434c-9279-3b95037ad4fe" providerId="ADAL" clId="{233524C9-536F-4FA9-891F-BF081E800E1E}" dt="2026-02-25T18:21:36.347" v="515" actId="20577"/>
            <ac:spMkLst>
              <pc:docMk/>
              <pc:sldMasterMk cId="1211192292" sldId="2147483759"/>
              <pc:sldLayoutMk cId="918488706" sldId="2147483769"/>
              <ac:spMk id="11" creationId="{00000000-0000-0000-0000-000000000000}"/>
            </ac:spMkLst>
          </pc:spChg>
        </pc:sldLayoutChg>
      </pc:sldMasterChg>
    </pc:docChg>
  </pc:docChgLst>
  <pc:docChgLst>
    <pc:chgData name="Gifford, Kelly (contr-dso)" userId="4eac60d0-d15e-44f0-85cd-ed64e087ee51" providerId="ADAL" clId="{6E2A3850-F6C6-46FD-B0DD-51143DB1FD4F}"/>
    <pc:docChg chg="undo custSel modSld">
      <pc:chgData name="Gifford, Kelly (contr-dso)" userId="4eac60d0-d15e-44f0-85cd-ed64e087ee51" providerId="ADAL" clId="{6E2A3850-F6C6-46FD-B0DD-51143DB1FD4F}" dt="2026-03-19T19:43:49.036" v="89" actId="20577"/>
      <pc:docMkLst>
        <pc:docMk/>
      </pc:docMkLst>
      <pc:sldChg chg="addSp delSp modSp mod">
        <pc:chgData name="Gifford, Kelly (contr-dso)" userId="4eac60d0-d15e-44f0-85cd-ed64e087ee51" providerId="ADAL" clId="{6E2A3850-F6C6-46FD-B0DD-51143DB1FD4F}" dt="2026-03-19T19:43:22.092" v="36" actId="1076"/>
        <pc:sldMkLst>
          <pc:docMk/>
          <pc:sldMk cId="473592482" sldId="288"/>
        </pc:sldMkLst>
        <pc:spChg chg="mod">
          <ac:chgData name="Gifford, Kelly (contr-dso)" userId="4eac60d0-d15e-44f0-85cd-ed64e087ee51" providerId="ADAL" clId="{6E2A3850-F6C6-46FD-B0DD-51143DB1FD4F}" dt="2026-03-19T19:43:14.657" v="35" actId="20577"/>
          <ac:spMkLst>
            <pc:docMk/>
            <pc:sldMk cId="473592482" sldId="288"/>
            <ac:spMk id="4" creationId="{5EC255BC-DA92-9523-18A0-1C50C1FDAF5C}"/>
          </ac:spMkLst>
        </pc:spChg>
        <pc:spChg chg="add del mod">
          <ac:chgData name="Gifford, Kelly (contr-dso)" userId="4eac60d0-d15e-44f0-85cd-ed64e087ee51" providerId="ADAL" clId="{6E2A3850-F6C6-46FD-B0DD-51143DB1FD4F}" dt="2026-03-19T19:43:22.092" v="36" actId="1076"/>
          <ac:spMkLst>
            <pc:docMk/>
            <pc:sldMk cId="473592482" sldId="288"/>
            <ac:spMk id="12" creationId="{44F1CF84-EFF8-7A24-6982-53F64ED09494}"/>
          </ac:spMkLst>
        </pc:spChg>
      </pc:sldChg>
      <pc:sldChg chg="modSp mod">
        <pc:chgData name="Gifford, Kelly (contr-dso)" userId="4eac60d0-d15e-44f0-85cd-ed64e087ee51" providerId="ADAL" clId="{6E2A3850-F6C6-46FD-B0DD-51143DB1FD4F}" dt="2026-03-19T19:43:43.419" v="71" actId="1076"/>
        <pc:sldMkLst>
          <pc:docMk/>
          <pc:sldMk cId="3384051261" sldId="289"/>
        </pc:sldMkLst>
        <pc:spChg chg="mod">
          <ac:chgData name="Gifford, Kelly (contr-dso)" userId="4eac60d0-d15e-44f0-85cd-ed64e087ee51" providerId="ADAL" clId="{6E2A3850-F6C6-46FD-B0DD-51143DB1FD4F}" dt="2026-03-19T19:43:35.102" v="69" actId="20577"/>
          <ac:spMkLst>
            <pc:docMk/>
            <pc:sldMk cId="3384051261" sldId="289"/>
            <ac:spMk id="4" creationId="{6C431B27-16DE-1372-8A53-F04DD56329EA}"/>
          </ac:spMkLst>
        </pc:spChg>
        <pc:spChg chg="mod">
          <ac:chgData name="Gifford, Kelly (contr-dso)" userId="4eac60d0-d15e-44f0-85cd-ed64e087ee51" providerId="ADAL" clId="{6E2A3850-F6C6-46FD-B0DD-51143DB1FD4F}" dt="2026-03-19T19:43:43.419" v="71" actId="1076"/>
          <ac:spMkLst>
            <pc:docMk/>
            <pc:sldMk cId="3384051261" sldId="289"/>
            <ac:spMk id="6" creationId="{68DBDB3B-6DDA-01D8-9B57-0F67820CF59D}"/>
          </ac:spMkLst>
        </pc:spChg>
      </pc:sldChg>
      <pc:sldChg chg="modSp mod">
        <pc:chgData name="Gifford, Kelly (contr-dso)" userId="4eac60d0-d15e-44f0-85cd-ed64e087ee51" providerId="ADAL" clId="{6E2A3850-F6C6-46FD-B0DD-51143DB1FD4F}" dt="2026-03-19T19:43:49.036" v="89" actId="20577"/>
        <pc:sldMkLst>
          <pc:docMk/>
          <pc:sldMk cId="4156281685" sldId="290"/>
        </pc:sldMkLst>
        <pc:spChg chg="mod">
          <ac:chgData name="Gifford, Kelly (contr-dso)" userId="4eac60d0-d15e-44f0-85cd-ed64e087ee51" providerId="ADAL" clId="{6E2A3850-F6C6-46FD-B0DD-51143DB1FD4F}" dt="2026-03-19T19:43:49.036" v="89" actId="20577"/>
          <ac:spMkLst>
            <pc:docMk/>
            <pc:sldMk cId="4156281685" sldId="290"/>
            <ac:spMk id="2" creationId="{5BA10E0E-F658-2038-53FE-FFDB426B5854}"/>
          </ac:spMkLst>
        </pc:spChg>
      </pc:sldChg>
      <pc:sldChg chg="modSp mod">
        <pc:chgData name="Gifford, Kelly (contr-dso)" userId="4eac60d0-d15e-44f0-85cd-ed64e087ee51" providerId="ADAL" clId="{6E2A3850-F6C6-46FD-B0DD-51143DB1FD4F}" dt="2026-03-19T19:42:47.505" v="15" actId="20577"/>
        <pc:sldMkLst>
          <pc:docMk/>
          <pc:sldMk cId="4212424936" sldId="291"/>
        </pc:sldMkLst>
        <pc:spChg chg="mod">
          <ac:chgData name="Gifford, Kelly (contr-dso)" userId="4eac60d0-d15e-44f0-85cd-ed64e087ee51" providerId="ADAL" clId="{6E2A3850-F6C6-46FD-B0DD-51143DB1FD4F}" dt="2026-03-19T19:42:47.505" v="15" actId="20577"/>
          <ac:spMkLst>
            <pc:docMk/>
            <pc:sldMk cId="4212424936" sldId="291"/>
            <ac:spMk id="4" creationId="{29AEA879-AA2E-B3FB-468A-2F98891F986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45904C4-010F-4896-9D22-0FDDB5A0FF93}" type="datetimeFigureOut">
              <a:rPr lang="en-US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/>
              <a:t>3/19/2026</a:t>
            </a:fld>
            <a:endParaRPr lang="en-US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Distribution Statement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899D1F1-6DC0-4977-808C-FD0BF7AD2565}" type="slidenum">
              <a:rPr lang="en-US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/>
              <a:t>‹#›</a:t>
            </a:fld>
            <a:endParaRPr lang="en-US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6" name="Picture 6" descr="TITLE-HEAD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87" y="-77470"/>
            <a:ext cx="1582209" cy="108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4592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92715C0D-0E45-40B4-BE1B-664AAA8E6B7F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89535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648200"/>
            <a:ext cx="5608320" cy="395097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Distribution Statement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639B577F-6036-4BCD-9021-A736CBC287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6" descr="TITLE-HEADER 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87" y="-77470"/>
            <a:ext cx="1582209" cy="1084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8633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ahoma" pitchFamily="34" charset="0"/>
        <a:ea typeface="Tahoma" pitchFamily="34" charset="0"/>
        <a:cs typeface="Tahoma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163234" y="151418"/>
            <a:ext cx="9520767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508000" y="840102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Connector 7"/>
          <p:cNvCxnSpPr>
            <a:cxnSpLocks/>
          </p:cNvCxnSpPr>
          <p:nvPr userDrawn="1"/>
        </p:nvCxnSpPr>
        <p:spPr>
          <a:xfrm flipH="1">
            <a:off x="6096001" y="841688"/>
            <a:ext cx="17100" cy="5708338"/>
          </a:xfrm>
          <a:prstGeom prst="line">
            <a:avLst/>
          </a:prstGeom>
          <a:ln w="3175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508000" y="3657600"/>
            <a:ext cx="112776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1853400" y="859358"/>
            <a:ext cx="264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prstClr val="black"/>
                </a:solidFill>
                <a:cs typeface="Tahoma" pitchFamily="34" charset="0"/>
              </a:rPr>
              <a:t>Agentic Platform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537217" y="3656491"/>
            <a:ext cx="5465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prstClr val="black"/>
                </a:solidFill>
                <a:cs typeface="Tahoma" pitchFamily="34" charset="0"/>
              </a:rPr>
              <a:t>Proposed Mathematics/Systems/Information/Data Science Methods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6783667" y="3656491"/>
            <a:ext cx="4394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prstClr val="black"/>
                </a:solidFill>
                <a:cs typeface="Tahoma" pitchFamily="34" charset="0"/>
              </a:rPr>
              <a:t>Domain and Tasks</a:t>
            </a:r>
          </a:p>
        </p:txBody>
      </p:sp>
      <p:sp>
        <p:nvSpPr>
          <p:cNvPr id="15" name="TextBox 13"/>
          <p:cNvSpPr txBox="1"/>
          <p:nvPr userDrawn="1"/>
        </p:nvSpPr>
        <p:spPr>
          <a:xfrm>
            <a:off x="6206822" y="865220"/>
            <a:ext cx="5212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prstClr val="black"/>
                </a:solidFill>
                <a:cs typeface="Tahoma" pitchFamily="34" charset="0"/>
              </a:rPr>
              <a:t>Metrics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9A8CA6-7B0E-2E35-915E-4E17CC41A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0" y="112209"/>
            <a:ext cx="1241441" cy="691068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4632462-5E6D-4FA5-4E19-F5783325FE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778000" y="6550026"/>
            <a:ext cx="8636000" cy="298450"/>
          </a:xfrm>
        </p:spPr>
        <p:txBody>
          <a:bodyPr/>
          <a:lstStyle/>
          <a:p>
            <a:pPr>
              <a:defRPr/>
            </a:pPr>
            <a:r>
              <a:rPr lang="en-US"/>
              <a:t>DARPA-ES-##-##    MATHBAC</a:t>
            </a:r>
          </a:p>
        </p:txBody>
      </p:sp>
    </p:spTree>
    <p:extLst>
      <p:ext uri="{BB962C8B-B14F-4D97-AF65-F5344CB8AC3E}">
        <p14:creationId xmlns:p14="http://schemas.microsoft.com/office/powerpoint/2010/main" val="4232241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163234" y="151418"/>
            <a:ext cx="9520767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 userDrawn="1"/>
        </p:nvCxnSpPr>
        <p:spPr bwMode="auto">
          <a:xfrm>
            <a:off x="508000" y="840102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Connector 7"/>
          <p:cNvCxnSpPr>
            <a:cxnSpLocks/>
          </p:cNvCxnSpPr>
          <p:nvPr userDrawn="1"/>
        </p:nvCxnSpPr>
        <p:spPr>
          <a:xfrm flipH="1">
            <a:off x="6096001" y="841688"/>
            <a:ext cx="17100" cy="5708338"/>
          </a:xfrm>
          <a:prstGeom prst="line">
            <a:avLst/>
          </a:prstGeom>
          <a:ln w="3175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508000" y="3657600"/>
            <a:ext cx="112776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1853400" y="859358"/>
            <a:ext cx="264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prstClr val="black"/>
                </a:solidFill>
                <a:cs typeface="Tahoma" pitchFamily="34" charset="0"/>
              </a:rPr>
              <a:t>Data Sources/Streams Used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28967" y="3656491"/>
            <a:ext cx="4090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prstClr val="black"/>
                </a:solidFill>
                <a:cs typeface="Tahoma" pitchFamily="34" charset="0"/>
              </a:rPr>
              <a:t>Proposed Mathematics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6555066" y="3656491"/>
            <a:ext cx="5408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prstClr val="black"/>
                </a:solidFill>
                <a:cs typeface="Tahoma" pitchFamily="34" charset="0"/>
              </a:rPr>
              <a:t>Domain, Tasks, and proposed principles, laws, or correlations</a:t>
            </a:r>
          </a:p>
        </p:txBody>
      </p:sp>
      <p:sp>
        <p:nvSpPr>
          <p:cNvPr id="15" name="TextBox 13"/>
          <p:cNvSpPr txBox="1"/>
          <p:nvPr userDrawn="1"/>
        </p:nvSpPr>
        <p:spPr>
          <a:xfrm>
            <a:off x="6206822" y="865220"/>
            <a:ext cx="5212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prstClr val="black"/>
                </a:solidFill>
                <a:cs typeface="Tahoma" pitchFamily="34" charset="0"/>
              </a:rPr>
              <a:t>Metrics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9A8CA6-7B0E-2E35-915E-4E17CC41A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0" y="112209"/>
            <a:ext cx="1241441" cy="691068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B42975B-63A3-8431-95C4-6FED2CAFF9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778000" y="6550026"/>
            <a:ext cx="8636000" cy="298450"/>
          </a:xfrm>
        </p:spPr>
        <p:txBody>
          <a:bodyPr/>
          <a:lstStyle/>
          <a:p>
            <a:pPr>
              <a:defRPr/>
            </a:pPr>
            <a:r>
              <a:rPr lang="en-US"/>
              <a:t>DARPA-ES-##-##    MATHBAC</a:t>
            </a:r>
          </a:p>
        </p:txBody>
      </p:sp>
    </p:spTree>
    <p:extLst>
      <p:ext uri="{BB962C8B-B14F-4D97-AF65-F5344CB8AC3E}">
        <p14:creationId xmlns:p14="http://schemas.microsoft.com/office/powerpoint/2010/main" val="918488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_and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DARPA-ES-##-##    MATHBAC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 noChangeShapeType="1"/>
          </p:cNvCxnSpPr>
          <p:nvPr userDrawn="1"/>
        </p:nvCxnSpPr>
        <p:spPr bwMode="auto">
          <a:xfrm>
            <a:off x="508000" y="840102"/>
            <a:ext cx="11176000" cy="1587"/>
          </a:xfrm>
          <a:prstGeom prst="line">
            <a:avLst/>
          </a:prstGeom>
          <a:noFill/>
          <a:ln w="22225">
            <a:solidFill>
              <a:srgbClr val="0F5E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163234" y="151418"/>
            <a:ext cx="9520767" cy="612648"/>
          </a:xfrm>
        </p:spPr>
        <p:txBody>
          <a:bodyPr>
            <a:normAutofit/>
          </a:bodyPr>
          <a:lstStyle>
            <a:lvl1pPr algn="l">
              <a:defRPr sz="2400" b="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3228B-CF75-EED0-6051-30F3A11C4C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0" y="112209"/>
            <a:ext cx="1241441" cy="69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21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08000" y="1219200"/>
            <a:ext cx="11176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78000" y="6550026"/>
            <a:ext cx="8636000" cy="2984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900" baseline="0">
                <a:solidFill>
                  <a:srgbClr val="898989"/>
                </a:solidFill>
                <a:latin typeface="Tahoma" charset="0"/>
              </a:defRPr>
            </a:lvl1pPr>
          </a:lstStyle>
          <a:p>
            <a:pPr>
              <a:defRPr/>
            </a:pPr>
            <a:r>
              <a:rPr lang="en-US"/>
              <a:t>DARPA-ES-##-##    MATHBAC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3240" y="6553200"/>
            <a:ext cx="1016000" cy="29210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aseline="0">
                <a:solidFill>
                  <a:srgbClr val="898989"/>
                </a:solidFill>
                <a:latin typeface="Tahoma" charset="0"/>
              </a:defRPr>
            </a:lvl1pPr>
          </a:lstStyle>
          <a:p>
            <a:pPr>
              <a:defRPr/>
            </a:pPr>
            <a:fld id="{231CC523-8BC6-4921-807A-66BD262F34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3" name="Title Placeholder 9"/>
          <p:cNvSpPr>
            <a:spLocks noGrp="1"/>
          </p:cNvSpPr>
          <p:nvPr>
            <p:ph type="title"/>
          </p:nvPr>
        </p:nvSpPr>
        <p:spPr bwMode="auto">
          <a:xfrm>
            <a:off x="2163233" y="152400"/>
            <a:ext cx="952076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BC86D2-40AD-FE25-97C1-34A415D3387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0" y="112209"/>
            <a:ext cx="1241441" cy="69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192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65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Tahoma" pitchFamily="34" charset="0"/>
          <a:ea typeface="+mj-ea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55D366-C75C-F2D6-F26A-CDD503A4B3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0ABB5F-26E8-1B1F-58F7-01DFFC9A3F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TA1: The Mathematics of Agentic Communication Protocols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255BC-DA92-9523-18A0-1C50C1FDAF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DARPA-PA-26-05   MATHBAC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43A732-267C-6875-1ED4-BFCDBB9E519E}"/>
              </a:ext>
            </a:extLst>
          </p:cNvPr>
          <p:cNvSpPr txBox="1"/>
          <p:nvPr/>
        </p:nvSpPr>
        <p:spPr>
          <a:xfrm>
            <a:off x="372140" y="1148317"/>
            <a:ext cx="5422604" cy="523220"/>
          </a:xfrm>
          <a:prstGeom prst="rect">
            <a:avLst/>
          </a:prstGeom>
          <a:solidFill>
            <a:srgbClr val="FFFF00"/>
          </a:solidFill>
        </p:spPr>
        <a:txBody>
          <a:bodyPr wrap="square" rtlCol="0"/>
          <a:lstStyle/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</a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CD61BF-7BA6-C54C-9376-0947EE16B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832331"/>
              </p:ext>
            </p:extLst>
          </p:nvPr>
        </p:nvGraphicFramePr>
        <p:xfrm>
          <a:off x="6253125" y="1142285"/>
          <a:ext cx="576031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6">
                  <a:extLst>
                    <a:ext uri="{9D8B030D-6E8A-4147-A177-3AD203B41FA5}">
                      <a16:colId xmlns:a16="http://schemas.microsoft.com/office/drawing/2014/main" val="2814830963"/>
                    </a:ext>
                  </a:extLst>
                </a:gridCol>
                <a:gridCol w="1968818">
                  <a:extLst>
                    <a:ext uri="{9D8B030D-6E8A-4147-A177-3AD203B41FA5}">
                      <a16:colId xmlns:a16="http://schemas.microsoft.com/office/drawing/2014/main" val="3861021370"/>
                    </a:ext>
                  </a:extLst>
                </a:gridCol>
                <a:gridCol w="1895746">
                  <a:extLst>
                    <a:ext uri="{9D8B030D-6E8A-4147-A177-3AD203B41FA5}">
                      <a16:colId xmlns:a16="http://schemas.microsoft.com/office/drawing/2014/main" val="600998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TA1 Rubric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Current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Month 4 Target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32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% 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Terminal-bench: 13/13 (100%)</a:t>
                      </a:r>
                    </a:p>
                    <a:p>
                      <a:r>
                        <a:rPr lang="en-US" sz="800" dirty="0">
                          <a:latin typeface="Tahoma"/>
                        </a:rPr>
                        <a:t>Petri: 172/173 (99.42%)</a:t>
                      </a:r>
                    </a:p>
                    <a:p>
                      <a:r>
                        <a:rPr lang="en-US" sz="800" dirty="0">
                          <a:latin typeface="Tahoma"/>
                        </a:rPr>
                        <a:t>Real-patch: 5/5 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CDPTI &gt;=95% recall; ACV_norm &gt;=0.90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678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Governance 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Zero overhead (terminal-bench-core-0.1.1)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&lt;=5% overhead on governed benchmark runs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211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IV&amp;V bundle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JSONL governance_events + latent_states.npz defined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Bundle locked at M1; phi-ablation complete by M3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89126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A124C9B-2DFD-AC2C-BBE7-65BD74080D4A}"/>
              </a:ext>
            </a:extLst>
          </p:cNvPr>
          <p:cNvSpPr txBox="1"/>
          <p:nvPr/>
        </p:nvSpPr>
        <p:spPr>
          <a:xfrm>
            <a:off x="6253125" y="2819198"/>
            <a:ext cx="3079689" cy="600164"/>
          </a:xfrm>
          <a:prstGeom prst="rect">
            <a:avLst/>
          </a:prstGeom>
          <a:noFill/>
        </p:spPr>
        <a:txBody>
          <a:bodyPr wrap="square" rtlCol="0"/>
          <a:lstStyle/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</a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CDA05-3226-8170-8C42-4E14B45F2F29}"/>
              </a:ext>
            </a:extLst>
          </p:cNvPr>
          <p:cNvSpPr txBox="1"/>
          <p:nvPr/>
        </p:nvSpPr>
        <p:spPr>
          <a:xfrm>
            <a:off x="106327" y="2625759"/>
            <a:ext cx="3667992" cy="938719"/>
          </a:xfrm>
          <a:prstGeom prst="rect">
            <a:avLst/>
          </a:prstGeom>
          <a:noFill/>
        </p:spPr>
        <a:txBody>
          <a:bodyPr wrap="square" rtlCol="0"/>
          <a:lstStyle/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# of agents: 2 (configurable per campaign)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types of agents: Math-reasoning orchestrator + SSM science validator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models: ChemBERTa-77M + Qwen2.5-Coder-0.5B-Instruct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# tasks / domains: 2 NMR task families + 1 generalization lane (Hammett)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months to build (current) platform: 18</a:t>
            </a:r>
          </a:p>
        </a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038DEC2-E3DA-DD8F-0C64-B4A5FDBB7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465048"/>
              </p:ext>
            </p:extLst>
          </p:nvPr>
        </p:nvGraphicFramePr>
        <p:xfrm>
          <a:off x="157362" y="3878582"/>
          <a:ext cx="585216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617">
                  <a:extLst>
                    <a:ext uri="{9D8B030D-6E8A-4147-A177-3AD203B41FA5}">
                      <a16:colId xmlns:a16="http://schemas.microsoft.com/office/drawing/2014/main" val="2814830963"/>
                    </a:ext>
                  </a:extLst>
                </a:gridCol>
                <a:gridCol w="2978580">
                  <a:extLst>
                    <a:ext uri="{9D8B030D-6E8A-4147-A177-3AD203B41FA5}">
                      <a16:colId xmlns:a16="http://schemas.microsoft.com/office/drawing/2014/main" val="3861021370"/>
                    </a:ext>
                  </a:extLst>
                </a:gridCol>
                <a:gridCol w="1994963">
                  <a:extLst>
                    <a:ext uri="{9D8B030D-6E8A-4147-A177-3AD203B41FA5}">
                      <a16:colId xmlns:a16="http://schemas.microsoft.com/office/drawing/2014/main" val="600998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TA1 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Method(s)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References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32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Poincare-ball operator T = L14 o...o 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Hyperbolic geometry (Ganea), Lyapunov (Khalil), Mac Lane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678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Trust-weighted directed Laplacian L_H(G_t)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Newman graph spectra, Strogatz, Fiedler connectivity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211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CDPTI signed coherence drift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Spera non-comp. safety (arXiv:2603.15973), persistence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924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(d)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MEE artifact extraction and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Minerva (arXiv:2206.14858), LeanDojo (NeurIPS 2023)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251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(e)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ACV 5-predicate compliance 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Pearl causality, von Neumann, Mac Lane, Goyal RIM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430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(f)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PIS protocol identity signature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Cover/Thomas, Tishby, Indyk/Motwani, persistent homology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891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CDT: Lagrangian automation for new subdomains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Tahoma"/>
                        </a:rPr>
                        <a:t>Phase I deliverable C; Hammett generalization by M9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96129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4F1CF84-EFF8-7A24-6982-53F64ED09494}"/>
              </a:ext>
            </a:extLst>
          </p:cNvPr>
          <p:cNvSpPr txBox="1"/>
          <p:nvPr/>
        </p:nvSpPr>
        <p:spPr>
          <a:xfrm>
            <a:off x="-947361" y="4023458"/>
            <a:ext cx="8061606" cy="3016210"/>
          </a:xfrm>
          <a:prstGeom prst="rect">
            <a:avLst/>
          </a:prstGeom>
          <a:solidFill>
            <a:srgbClr val="FFFF00"/>
          </a:solidFill>
        </p:spPr>
        <a:txBody>
          <a:bodyPr wrap="square" rtlCol="0"/>
          <a:lstStyle/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</a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88E11EC-C1CF-5B92-CE3F-4040E892D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603310"/>
              </p:ext>
            </p:extLst>
          </p:nvPr>
        </p:nvGraphicFramePr>
        <p:xfrm>
          <a:off x="6349371" y="4023458"/>
          <a:ext cx="533463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006">
                  <a:extLst>
                    <a:ext uri="{9D8B030D-6E8A-4147-A177-3AD203B41FA5}">
                      <a16:colId xmlns:a16="http://schemas.microsoft.com/office/drawing/2014/main" val="2814830963"/>
                    </a:ext>
                  </a:extLst>
                </a:gridCol>
                <a:gridCol w="3223624">
                  <a:extLst>
                    <a:ext uri="{9D8B030D-6E8A-4147-A177-3AD203B41FA5}">
                      <a16:colId xmlns:a16="http://schemas.microsoft.com/office/drawing/2014/main" val="3861021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ahoma"/>
                        </a:rPr>
                        <a:t>TA1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ahoma"/>
                        </a:rPr>
                        <a:t>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32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ahoma"/>
                        </a:rPr>
                        <a:t>Selected Science Subdomain(s)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ahoma"/>
                        </a:rPr>
                        <a:t>NMR spectroscopy (primary); Hammett equation (generalization)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678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ahoma"/>
                        </a:rPr>
                        <a:t>1st family of scientific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ahoma"/>
                        </a:rPr>
                        <a:t>Task A: 1H NMR spectrum to molecular structure (BMRB+PDB)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211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ahoma"/>
                        </a:rPr>
                        <a:t>2nd family of scientific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ahoma"/>
                        </a:rPr>
                        <a:t>Task B: 2D COSY to vicinal J-coupling connectivity (BMRB)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891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ahoma"/>
                        </a:rPr>
                        <a:t>Small science models (SSMs)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ahoma"/>
                        </a:rPr>
                        <a:t>ChemBERTa-77M + Qwen2.5-Coder-0.5B-Instruct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464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592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A10E0E-F658-2038-53FE-FFDB426B58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DARPA-PA-26-05    MATHBAC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2A7D96-5DD0-1F07-443E-DE07B79883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9D7FDB-E319-2C59-0775-C9ED5E280C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Proposed Metric #1 — Mathematical Evidence Emission (MEE)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50333-1EC8-C875-242B-CEC63DA39C23}"/>
              </a:ext>
            </a:extLst>
          </p:cNvPr>
          <p:cNvSpPr txBox="1"/>
          <p:nvPr/>
        </p:nvSpPr>
        <p:spPr>
          <a:xfrm>
            <a:off x="510364" y="1025557"/>
            <a:ext cx="8337422" cy="3693319"/>
          </a:xfrm>
          <a:prstGeom prst="rect">
            <a:avLst/>
          </a:prstGeom>
          <a:noFill/>
        </p:spPr>
        <a:txBody>
          <a:bodyPr wrap="square" rtlCol="0"/>
          <a:lstStyle/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Technical Area: TA1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Description: MEE measures the rate and verification quality of checkable mathematical artifacts emitted during inter-agent communication: formulas, derivation steps, citations, executable code, and numerical assertions.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Method for calculation: For each act, extract evidence artifacts and score each with a class-appropriate verifier (symbolic simplification, sandbox execution, dimensional checks, citation resolution). MEE = sum(scores) / # inter-agent messages. Report MEE_density, MEE_pass_rate, and artifact-class balance. IV&amp;V inputs: governance_events.jsonl, evidence_artifacts.jsonl, task_manifests.json.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Progress against program goals: MATHBAC seeks science-discovery protocols that are understandable, not only successful. MEE distinguishes a correct black-box answer from a campaign that leaves a mathematical audit trail.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Supplement to current metrics: Program success, speed, and generalization are end-state measures. MEE is trace-level: did the protocol produce falsifiable scientific evidence?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Adoption argument: MEE gives IV&amp;V a low-cost audit surface using the same evidence log needed to check math content. Vendor-neutral; computable from JSONL without SCBE source.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Literature: Minerva (arXiv:2206.14858), Polu/Sutskever (arXiv:2009.03393), AlphaGeometry (Nature 2024), LeanDojo (NeurIPS 2023).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Phase I targets: M3 — extractor and verifier calibration. M9 — MEE density/pass-rate on NMR task families. M13 — compare vs. Mixtral-8x7B baseline.</a:t>
            </a:r>
          </a:p>
        </a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CB1AF-AC17-DEED-5038-4B3FC3F569C5}"/>
              </a:ext>
            </a:extLst>
          </p:cNvPr>
          <p:cNvSpPr txBox="1"/>
          <p:nvPr/>
        </p:nvSpPr>
        <p:spPr>
          <a:xfrm>
            <a:off x="6737494" y="433147"/>
            <a:ext cx="4944142" cy="923330"/>
          </a:xfrm>
          <a:prstGeom prst="rect">
            <a:avLst/>
          </a:prstGeom>
          <a:solidFill>
            <a:srgbClr val="FFFF00"/>
          </a:solidFill>
        </p:spPr>
        <a:txBody>
          <a:bodyPr wrap="square" rtlCol="0"/>
          <a:lstStyle/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</a:txBody>
      </p:sp>
    </p:spTree>
    <p:extLst>
      <p:ext uri="{BB962C8B-B14F-4D97-AF65-F5344CB8AC3E}">
        <p14:creationId xmlns:p14="http://schemas.microsoft.com/office/powerpoint/2010/main" val="415628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A10E0E-F658-2038-53FE-FFDB426B58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DARPA-PA-26-05    MATHBAC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2A7D96-5DD0-1F07-443E-DE07B79883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9D7FDB-E319-2C59-0775-C9ED5E280C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Proposed Metric #2 — Axiom Compliance Vector (ACV)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50333-1EC8-C875-242B-CEC63DA39C23}"/>
              </a:ext>
            </a:extLst>
          </p:cNvPr>
          <p:cNvSpPr txBox="1"/>
          <p:nvPr/>
        </p:nvSpPr>
        <p:spPr>
          <a:xfrm>
            <a:off x="510364" y="1025557"/>
            <a:ext cx="8337422" cy="3693319"/>
          </a:xfrm>
          <a:prstGeom prst="rect">
            <a:avLst/>
          </a:prstGeom>
          <a:noFill/>
        </p:spPr>
        <a:txBody>
          <a:bodyPr wrap="square" rtlCol="0"/>
          <a:lstStyle/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Technical Area: TA1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Description: ACV is a five-component vector in [0,1]^5 measuring per-act compliance with Unitarity, Locality, Causality, Symmetry, and Composition.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Method for calculation: Evaluate five predicates per act: information conservation (Unitarity), bounded influence radius (Locality), dependency-graph topological order (Causality), role-permutation invariance (Symmetry), pipeline schema continuity (Composition). Campaign ACV = mean predicate vector. ACV_norm = (5 - ||1 - ACV||_1) / 5. IV&amp;V inputs: governance_events.jsonl, latent_states.npz, task_manifests.json.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Progress against program goals: TA1 seeks stability and convergence analysis. ACV measures whether structural conditions for operator well-posedness hold.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Supplement to current metrics: A protocol can be fast and correct while violating causality or composition. ACV catches structurally pathological protocols.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Adoption argument: Vendor-neutral — any performer can emit five predicate values from ordinary communication and latent-state logs. Provides Phase II teams a compatibility check before combining protocols.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Literature: von Neumann formalism, Pearl causality, Mac Lane composition, Goyal RIM.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Phase I targets: M3 — ACV field in event schema. M9 — mean ACV_norm &gt;= 0.90.</a:t>
            </a:r>
          </a:p>
        </a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CB1AF-AC17-DEED-5038-4B3FC3F569C5}"/>
              </a:ext>
            </a:extLst>
          </p:cNvPr>
          <p:cNvSpPr txBox="1"/>
          <p:nvPr/>
        </p:nvSpPr>
        <p:spPr>
          <a:xfrm>
            <a:off x="6737494" y="433147"/>
            <a:ext cx="4944142" cy="923330"/>
          </a:xfrm>
          <a:prstGeom prst="rect">
            <a:avLst/>
          </a:prstGeom>
          <a:solidFill>
            <a:srgbClr val="FFFF00"/>
          </a:solidFill>
        </p:spPr>
        <a:txBody>
          <a:bodyPr wrap="square" rtlCol="0"/>
          <a:lstStyle/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</a:txBody>
      </p:sp>
    </p:spTree>
    <p:extLst>
      <p:ext uri="{BB962C8B-B14F-4D97-AF65-F5344CB8AC3E}">
        <p14:creationId xmlns:p14="http://schemas.microsoft.com/office/powerpoint/2010/main" val="4156281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A10E0E-F658-2038-53FE-FFDB426B58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DARPA-PA-26-05    MATHBAC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2A7D96-5DD0-1F07-443E-DE07B79883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9D7FDB-E319-2C59-0775-C9ED5E280C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Proposed Metric #3 — Communication-Dynamics Phase-Transition Index (CDPTI)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50333-1EC8-C875-242B-CEC63DA39C23}"/>
              </a:ext>
            </a:extLst>
          </p:cNvPr>
          <p:cNvSpPr txBox="1"/>
          <p:nvPr/>
        </p:nvSpPr>
        <p:spPr>
          <a:xfrm>
            <a:off x="510364" y="1025557"/>
            <a:ext cx="8337422" cy="3693319"/>
          </a:xfrm>
          <a:prstGeom prst="rect">
            <a:avLst/>
          </a:prstGeom>
          <a:noFill/>
        </p:spPr>
        <a:txBody>
          <a:bodyPr wrap="square" rtlCol="0"/>
          <a:lstStyle/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Technical Area: TA1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Description: CDPTI measures signed regime changes in the multi-agent communication graph, detecting communication breakdown and coordinated adversarial convergence.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Method for calculation: Build time-windowed directed graph G_t. Edge (i,j) weighted by communication energy, signed by harmonic-wall evaluation: w_ij(t) = sign(H_ij(t) - H_min) * ||log(S_ij)||. Trust-weighted directed Laplacian: L_H(G_t) = D_out(W_H) - W_H. Signed readout: CDPTI(t) = Re(lambda_2(L_H(G_t))) / Re(lambda_2(L_H(G_t0))). Negative signed-connectivity growth triggers escalation even if unsigned rises. IV&amp;V inputs: governance_events.jsonl, latent_states.npz, protocol_graph_edges.jsonl.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Progress against program goals: PA line 443 — characterize communication dynamics. CDPTI identifies regime changes and their direction (safe vs. adversarial basin).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Supplement to current metrics: Outcome metrics don't show whether a campaign progressed smoothly or converged adversarially. CDPTI adds temporal/directional resolution.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Adoption argument: Directly addresses non-compositional safety (Spera 2026): conjunctive drift appears as signed graph motion rather than isolated local actions.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Literature: Newman spectra, Strogatz dynamics, Cohen-Steiner, Spera (arXiv:2603.15973).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Phase I targets: M3 instrument L_H. M6 live CDPTI. M13 &gt;= 95% recall, &lt;= 5% FPR.</a:t>
            </a:r>
          </a:p>
        </a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CB1AF-AC17-DEED-5038-4B3FC3F569C5}"/>
              </a:ext>
            </a:extLst>
          </p:cNvPr>
          <p:cNvSpPr txBox="1"/>
          <p:nvPr/>
        </p:nvSpPr>
        <p:spPr>
          <a:xfrm>
            <a:off x="6737494" y="433147"/>
            <a:ext cx="4944142" cy="923330"/>
          </a:xfrm>
          <a:prstGeom prst="rect">
            <a:avLst/>
          </a:prstGeom>
          <a:solidFill>
            <a:srgbClr val="FFFF00"/>
          </a:solidFill>
        </p:spPr>
        <a:txBody>
          <a:bodyPr wrap="square" rtlCol="0"/>
          <a:lstStyle/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</a:txBody>
      </p:sp>
    </p:spTree>
    <p:extLst>
      <p:ext uri="{BB962C8B-B14F-4D97-AF65-F5344CB8AC3E}">
        <p14:creationId xmlns:p14="http://schemas.microsoft.com/office/powerpoint/2010/main" val="415628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A10E0E-F658-2038-53FE-FFDB426B58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DARPA-PA-26-05    MATHBAC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2A7D96-5DD0-1F07-443E-DE07B79883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1CC523-8BC6-4921-807A-66BD262F34A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9D7FDB-E319-2C59-0775-C9ED5E280C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Proposed Metric #4 — Protocol Information Signature (PIS)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50333-1EC8-C875-242B-CEC63DA39C23}"/>
              </a:ext>
            </a:extLst>
          </p:cNvPr>
          <p:cNvSpPr txBox="1"/>
          <p:nvPr/>
        </p:nvSpPr>
        <p:spPr>
          <a:xfrm>
            <a:off x="510364" y="1025557"/>
            <a:ext cx="8337422" cy="3693319"/>
          </a:xfrm>
          <a:prstGeom prst="rect">
            <a:avLst/>
          </a:prstGeom>
          <a:noFill/>
        </p:spPr>
        <a:txBody>
          <a:bodyPr wrap="square" rtlCol="0"/>
          <a:lstStyle/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Technical Area: TA1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Description: PIS is a fixed-dimensional protocol fingerprint summarizing the structural identity of a multi-agent protocol, independent of agent names and surface formatting.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Method for calculation: Compute mutual-information features, conditional-entropy graph features, role-transition features, latent-delta covariance summaries, and persistent-homology features. Project via released pis_projection_matrix.json. Compare with cosine distance and cluster persistence. IV&amp;V inputs: governance_events.jsonl, latent_states.npz, protocol_graph_edges.jsonl, pis_projection_matrix.json.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Progress against program goals: TA1 deliverable C requires a protocol catalog. PIS is the catalog key: determines whether two protocols are structurally similar.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Supplement to current metrics: Success/speed do not identify whether a protocol is new, redundant, or transferable. PIS adds identity and similarity structure to the rubric.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Adoption argument: Detects benchmark gaming, supports cross-subdomain transfer, and enables catalog queries by structural similarity.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Literature: Cover/Thomas, Tishby bottleneck, Indyk/Motwani ANN, Charikar similarity estimation, persistent-homology stability.</a:t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>Phase I targets: M6 — preliminary PIS feature extractor. M13 — catalog v1 with reference centroids and cluster-separation report.</a:t>
            </a:r>
          </a:p>
        </a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CB1AF-AC17-DEED-5038-4B3FC3F569C5}"/>
              </a:ext>
            </a:extLst>
          </p:cNvPr>
          <p:cNvSpPr txBox="1"/>
          <p:nvPr/>
        </p:nvSpPr>
        <p:spPr>
          <a:xfrm>
            <a:off x="6737494" y="433147"/>
            <a:ext cx="4944142" cy="923330"/>
          </a:xfrm>
          <a:prstGeom prst="rect">
            <a:avLst/>
          </a:prstGeom>
          <a:solidFill>
            <a:srgbClr val="FFFF00"/>
          </a:solidFill>
        </p:spPr>
        <a:txBody>
          <a:bodyPr wrap="square" rtlCol="0"/>
          <a:lstStyle/>
          <a:p>
            <a:r>
              <a:rPr lang="en-US" sz="900" dirty="0">
                <a:solidFill>
                  <a:srgbClr val="000000"/>
                </a:solidFill>
                <a:latin typeface="Tahoma"/>
              </a:rPr>
              <a:t/>
            </a:r>
          </a:p>
        </a:txBody>
      </p:sp>
    </p:spTree>
    <p:extLst>
      <p:ext uri="{BB962C8B-B14F-4D97-AF65-F5344CB8AC3E}">
        <p14:creationId xmlns:p14="http://schemas.microsoft.com/office/powerpoint/2010/main" val="4156281685"/>
      </p:ext>
    </p:extLst>
  </p:cSld>
  <p:clrMapOvr>
    <a:masterClrMapping/>
  </p:clrMapOvr>
</p:sld>
</file>

<file path=ppt/theme/theme1.xml><?xml version="1.0" encoding="utf-8"?>
<a:theme xmlns:a="http://schemas.openxmlformats.org/drawingml/2006/main" name="1_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noFill/>
        <a:ln w="22225">
          <a:solidFill>
            <a:schemeClr val="tx1"/>
          </a:solidFill>
          <a:round/>
          <a:headEnd/>
          <a:tailEnd/>
        </a:ln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a:spPr>
      <a:bodyPr/>
      <a:lstStyle/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9B658FCD9924439C41A369948A4EE0" ma:contentTypeVersion="20" ma:contentTypeDescription="Create a new document." ma:contentTypeScope="" ma:versionID="ecc61cc3cf998f1fca6509d688254880">
  <xsd:schema xmlns:xsd="http://www.w3.org/2001/XMLSchema" xmlns:xs="http://www.w3.org/2001/XMLSchema" xmlns:p="http://schemas.microsoft.com/office/2006/metadata/properties" xmlns:ns2="0cd26ea9-6aaa-409c-ab6d-4ad08ad0145d" xmlns:ns3="50b59d1c-721b-47d3-9451-b79b30f3c7bf" targetNamespace="http://schemas.microsoft.com/office/2006/metadata/properties" ma:root="true" ma:fieldsID="e51bb972127214d2108b82b0f260f630" ns2:_="" ns3:_="">
    <xsd:import namespace="0cd26ea9-6aaa-409c-ab6d-4ad08ad0145d"/>
    <xsd:import namespace="50b59d1c-721b-47d3-9451-b79b30f3c7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Hyperlink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LengthInSeconds" minOccurs="0"/>
                <xsd:element ref="ns2:SortOrder" minOccurs="0"/>
                <xsd:element ref="ns2:dateandtim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26ea9-6aaa-409c-ab6d-4ad08ad014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Hyperlink" ma:index="12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9aa863f-a18b-4de0-9c78-b693d194da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SortOrder" ma:index="22" nillable="true" ma:displayName="Sort Order" ma:decimals="0" ma:format="Dropdown" ma:internalName="SortOrder" ma:percentage="FALSE">
      <xsd:simpleType>
        <xsd:restriction base="dms:Number"/>
      </xsd:simpleType>
    </xsd:element>
    <xsd:element name="dateandtime" ma:index="23" nillable="true" ma:displayName="date and time" ma:format="DateOnly" ma:internalName="dateandtime">
      <xsd:simpleType>
        <xsd:restriction base="dms:DateTim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59d1c-721b-47d3-9451-b79b30f3c7b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b10b894-4339-4970-9fe9-a3addb5e1d27}" ma:internalName="TaxCatchAll" ma:showField="CatchAllData" ma:web="50b59d1c-721b-47d3-9451-b79b30f3c7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rtOrder xmlns="0cd26ea9-6aaa-409c-ab6d-4ad08ad0145d" xsi:nil="true"/>
    <TaxCatchAll xmlns="50b59d1c-721b-47d3-9451-b79b30f3c7bf" xsi:nil="true"/>
    <Hyperlink xmlns="0cd26ea9-6aaa-409c-ab6d-4ad08ad0145d">
      <Url xsi:nil="true"/>
      <Description xsi:nil="true"/>
    </Hyperlink>
    <lcf76f155ced4ddcb4097134ff3c332f xmlns="0cd26ea9-6aaa-409c-ab6d-4ad08ad0145d">
      <Terms xmlns="http://schemas.microsoft.com/office/infopath/2007/PartnerControls"/>
    </lcf76f155ced4ddcb4097134ff3c332f>
    <dateandtime xmlns="0cd26ea9-6aaa-409c-ab6d-4ad08ad0145d" xsi:nil="true"/>
  </documentManagement>
</p:properties>
</file>

<file path=customXml/itemProps1.xml><?xml version="1.0" encoding="utf-8"?>
<ds:datastoreItem xmlns:ds="http://schemas.openxmlformats.org/officeDocument/2006/customXml" ds:itemID="{DF7FB1E0-EB51-4770-ADE4-7545597839A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F162A3-D643-4641-B579-E0A2C07536DB}">
  <ds:schemaRefs>
    <ds:schemaRef ds:uri="0cd26ea9-6aaa-409c-ab6d-4ad08ad0145d"/>
    <ds:schemaRef ds:uri="50b59d1c-721b-47d3-9451-b79b30f3c7b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71C8CFA-89C4-450C-83E4-B0A4A8DCDD31}">
  <ds:schemaRefs>
    <ds:schemaRef ds:uri="0cd26ea9-6aaa-409c-ab6d-4ad08ad0145d"/>
    <ds:schemaRef ds:uri="50b59d1c-721b-47d3-9451-b79b30f3c7bf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839</Words>
  <Application>Microsoft Office PowerPoint</Application>
  <PresentationFormat>Widescreen</PresentationFormat>
  <Paragraphs>111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Tahoma</vt:lpstr>
      <vt:lpstr>1_blank</vt:lpstr>
      <vt:lpstr>Guidance – Delete after reading</vt:lpstr>
      <vt:lpstr>TA1: The Mathematics of Agentic Communication Protocols</vt:lpstr>
      <vt:lpstr>TA2: Geometry and Evolution of Shared Knowledge –          Generalizable Principles from Data  </vt:lpstr>
      <vt:lpstr>Proposed Metric # 1</vt:lpstr>
    </vt:vector>
  </TitlesOfParts>
  <Company>Wyle Information Systems - DARPA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 Name (Acronym) Office/PM</dc:title>
  <dc:creator>Emily VanSice</dc:creator>
  <cp:lastModifiedBy>Gifford, Kelly (contr-dso)</cp:lastModifiedBy>
  <cp:revision>1</cp:revision>
  <cp:lastPrinted>2011-09-22T20:00:03Z</cp:lastPrinted>
  <dcterms:created xsi:type="dcterms:W3CDTF">2012-01-24T15:16:44Z</dcterms:created>
  <dcterms:modified xsi:type="dcterms:W3CDTF">2026-03-19T19:43:53Z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0x0101006C9B658FCD9924439C41A369948A4EE0</vt:lpwstr>
  </property>
  <property fmtid="{D5CDD505-2E9C-101B-9397-08002B2CF9AE}" pid="3" name="MediaServiceImageTags">
    <vt:lpwstr/>
  </property>
</Properties>
</file>