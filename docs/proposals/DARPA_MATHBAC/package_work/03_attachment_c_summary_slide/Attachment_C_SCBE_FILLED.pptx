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59" r:id="rId4"/>
  </p:sldMasterIdLst>
  <p:notesMasterIdLst>
    <p:notesMasterId r:id="rId6"/>
  </p:notesMasterIdLst>
  <p:handoutMasterIdLst>
    <p:handoutMasterId r:id="rId7"/>
  </p:handoutMasterIdLst>
  <p:sldIdLst>
    <p:sldId id="280" r:id="rId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p15:clr>
            <a:srgbClr val="A4A3A4"/>
          </p15:clr>
        </p15:guide>
        <p15:guide id="2" pos="288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90" autoAdjust="0"/>
    <p:restoredTop sz="91074" autoAdjust="0"/>
  </p:normalViewPr>
  <p:slideViewPr>
    <p:cSldViewPr snapToGrid="0" showGuides="1">
      <p:cViewPr varScale="1">
        <p:scale>
          <a:sx n="66" d="100"/>
          <a:sy n="66" d="100"/>
        </p:scale>
        <p:origin x="1144" y="48"/>
      </p:cViewPr>
      <p:guideLst>
        <p:guide orient="horz" pos="2162"/>
        <p:guide pos="288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88" d="100"/>
          <a:sy n="88" d="100"/>
        </p:scale>
        <p:origin x="-2310" y="-12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fford, Kelly (contr-dso)" userId="4eac60d0-d15e-44f0-85cd-ed64e087ee51" providerId="ADAL" clId="{6E2A3850-F6C6-46FD-B0DD-51143DB1FD4F}"/>
    <pc:docChg chg="custSel modSld">
      <pc:chgData name="Gifford, Kelly (contr-dso)" userId="4eac60d0-d15e-44f0-85cd-ed64e087ee51" providerId="ADAL" clId="{6E2A3850-F6C6-46FD-B0DD-51143DB1FD4F}" dt="2026-03-19T20:04:25.560" v="43" actId="13926"/>
      <pc:docMkLst>
        <pc:docMk/>
      </pc:docMkLst>
      <pc:sldChg chg="modSp mod">
        <pc:chgData name="Gifford, Kelly (contr-dso)" userId="4eac60d0-d15e-44f0-85cd-ed64e087ee51" providerId="ADAL" clId="{6E2A3850-F6C6-46FD-B0DD-51143DB1FD4F}" dt="2026-03-19T20:04:25.560" v="43" actId="13926"/>
        <pc:sldMkLst>
          <pc:docMk/>
          <pc:sldMk cId="3769729806" sldId="280"/>
        </pc:sldMkLst>
        <pc:spChg chg="mod">
          <ac:chgData name="Gifford, Kelly (contr-dso)" userId="4eac60d0-d15e-44f0-85cd-ed64e087ee51" providerId="ADAL" clId="{6E2A3850-F6C6-46FD-B0DD-51143DB1FD4F}" dt="2026-03-19T20:04:25.560" v="43" actId="13926"/>
          <ac:spMkLst>
            <pc:docMk/>
            <pc:sldMk cId="3769729806" sldId="280"/>
            <ac:spMk id="2" creationId="{00000000-0000-0000-0000-000000000000}"/>
          </ac:spMkLst>
        </pc:spChg>
        <pc:spChg chg="mod">
          <ac:chgData name="Gifford, Kelly (contr-dso)" userId="4eac60d0-d15e-44f0-85cd-ed64e087ee51" providerId="ADAL" clId="{6E2A3850-F6C6-46FD-B0DD-51143DB1FD4F}" dt="2026-03-19T20:04:15.389" v="18" actId="20577"/>
          <ac:spMkLst>
            <pc:docMk/>
            <pc:sldMk cId="3769729806" sldId="280"/>
            <ac:spMk id="6"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4.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A45904C4-010F-4896-9D22-0FDDB5A0FF93}" type="datetimeFigureOut">
              <a:rPr lang="en-US" smtClean="0">
                <a:solidFill>
                  <a:schemeClr val="bg1">
                    <a:lumMod val="65000"/>
                  </a:schemeClr>
                </a:solidFill>
                <a:latin typeface="Tahoma" pitchFamily="34" charset="0"/>
                <a:ea typeface="Tahoma" pitchFamily="34" charset="0"/>
                <a:cs typeface="Tahoma" pitchFamily="34" charset="0"/>
              </a:rPr>
              <a:pPr/>
              <a:t>3/19/2026</a:t>
            </a:fld>
            <a:endParaRPr lang="en-US" dirty="0">
              <a:solidFill>
                <a:schemeClr val="bg1">
                  <a:lumMod val="65000"/>
                </a:schemeClr>
              </a:solidFill>
              <a:latin typeface="Tahoma" pitchFamily="34" charset="0"/>
              <a:ea typeface="Tahoma" pitchFamily="34" charset="0"/>
              <a:cs typeface="Tahoma" pitchFamily="34" charset="0"/>
            </a:endParaRPr>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r>
              <a:rPr lang="en-US" dirty="0">
                <a:solidFill>
                  <a:schemeClr val="bg1">
                    <a:lumMod val="65000"/>
                  </a:schemeClr>
                </a:solidFill>
                <a:latin typeface="Tahoma" pitchFamily="34" charset="0"/>
                <a:ea typeface="Tahoma" pitchFamily="34" charset="0"/>
                <a:cs typeface="Tahoma" pitchFamily="34" charset="0"/>
              </a:rPr>
              <a:t>Distribution Statement</a:t>
            </a:r>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4899D1F1-6DC0-4977-808C-FD0BF7AD2565}" type="slidenum">
              <a:rPr lang="en-US" smtClean="0">
                <a:solidFill>
                  <a:schemeClr val="bg1">
                    <a:lumMod val="65000"/>
                  </a:schemeClr>
                </a:solidFill>
                <a:latin typeface="Tahoma" pitchFamily="34" charset="0"/>
                <a:ea typeface="Tahoma" pitchFamily="34" charset="0"/>
                <a:cs typeface="Tahoma" pitchFamily="34" charset="0"/>
              </a:rPr>
              <a:pPr/>
              <a:t>‹#›</a:t>
            </a:fld>
            <a:endParaRPr lang="en-US" dirty="0">
              <a:solidFill>
                <a:schemeClr val="bg1">
                  <a:lumMod val="65000"/>
                </a:schemeClr>
              </a:solidFill>
              <a:latin typeface="Tahoma" pitchFamily="34" charset="0"/>
              <a:ea typeface="Tahoma" pitchFamily="34" charset="0"/>
              <a:cs typeface="Tahoma" pitchFamily="34" charset="0"/>
            </a:endParaRPr>
          </a:p>
        </p:txBody>
      </p:sp>
      <p:pic>
        <p:nvPicPr>
          <p:cNvPr id="6" name="Picture 6" descr="TITLE-HEADER LOG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787" y="-77470"/>
            <a:ext cx="1582209" cy="1084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45924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4.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solidFill>
                  <a:schemeClr val="bg1">
                    <a:lumMod val="65000"/>
                  </a:schemeClr>
                </a:solidFill>
                <a:latin typeface="Tahoma" pitchFamily="34" charset="0"/>
                <a:ea typeface="Tahoma" pitchFamily="34" charset="0"/>
                <a:cs typeface="Tahoma" pitchFamily="34" charset="0"/>
              </a:defRPr>
            </a:lvl1pPr>
          </a:lstStyle>
          <a:p>
            <a:fld id="{92715C0D-0E45-40B4-BE1B-664AAA8E6B7F}" type="datetimeFigureOut">
              <a:rPr lang="en-US" smtClean="0"/>
              <a:pPr/>
              <a:t>3/19/2026</a:t>
            </a:fld>
            <a:endParaRPr lang="en-US" dirty="0"/>
          </a:p>
        </p:txBody>
      </p:sp>
      <p:sp>
        <p:nvSpPr>
          <p:cNvPr id="4" name="Slide Image Placeholder 3"/>
          <p:cNvSpPr>
            <a:spLocks noGrp="1" noRot="1" noChangeAspect="1"/>
          </p:cNvSpPr>
          <p:nvPr>
            <p:ph type="sldImg" idx="2"/>
          </p:nvPr>
        </p:nvSpPr>
        <p:spPr>
          <a:xfrm>
            <a:off x="1181100" y="895350"/>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648200"/>
            <a:ext cx="5608320" cy="3950970"/>
          </a:xfrm>
          <a:prstGeom prst="rect">
            <a:avLst/>
          </a:prstGeom>
        </p:spPr>
        <p:txBody>
          <a:bodyPr vert="horz" lIns="93177" tIns="46589" rIns="93177" bIns="46589"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solidFill>
                  <a:schemeClr val="bg1">
                    <a:lumMod val="65000"/>
                  </a:schemeClr>
                </a:solidFill>
                <a:latin typeface="Tahoma" pitchFamily="34" charset="0"/>
                <a:ea typeface="Tahoma" pitchFamily="34" charset="0"/>
                <a:cs typeface="Tahoma" pitchFamily="34" charset="0"/>
              </a:defRPr>
            </a:lvl1pPr>
          </a:lstStyle>
          <a:p>
            <a:r>
              <a:rPr lang="en-US" dirty="0"/>
              <a:t>Distribution Statement</a:t>
            </a:r>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solidFill>
                  <a:schemeClr val="bg1">
                    <a:lumMod val="65000"/>
                  </a:schemeClr>
                </a:solidFill>
                <a:latin typeface="Tahoma" pitchFamily="34" charset="0"/>
                <a:ea typeface="Tahoma" pitchFamily="34" charset="0"/>
                <a:cs typeface="Tahoma" pitchFamily="34" charset="0"/>
              </a:defRPr>
            </a:lvl1pPr>
          </a:lstStyle>
          <a:p>
            <a:fld id="{639B577F-6036-4BCD-9021-A736CBC28733}" type="slidenum">
              <a:rPr lang="en-US" smtClean="0"/>
              <a:pPr/>
              <a:t>‹#›</a:t>
            </a:fld>
            <a:endParaRPr lang="en-US" dirty="0"/>
          </a:p>
        </p:txBody>
      </p:sp>
      <p:pic>
        <p:nvPicPr>
          <p:cNvPr id="8" name="Picture 6" descr="TITLE-HEADER LOG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787" y="-77470"/>
            <a:ext cx="1582209" cy="1084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8633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ahoma" pitchFamily="34" charset="0"/>
        <a:ea typeface="Tahoma" pitchFamily="34" charset="0"/>
        <a:cs typeface="Tahoma" pitchFamily="34" charset="0"/>
      </a:defRPr>
    </a:lvl1pPr>
    <a:lvl2pPr marL="457200" algn="l" defTabSz="914400" rtl="0" eaLnBrk="1" latinLnBrk="0" hangingPunct="1">
      <a:defRPr sz="1200" kern="1200">
        <a:solidFill>
          <a:schemeClr val="tx1"/>
        </a:solidFill>
        <a:latin typeface="Tahoma" pitchFamily="34" charset="0"/>
        <a:ea typeface="Tahoma" pitchFamily="34" charset="0"/>
        <a:cs typeface="Tahoma" pitchFamily="34" charset="0"/>
      </a:defRPr>
    </a:lvl2pPr>
    <a:lvl3pPr marL="914400" algn="l" defTabSz="914400" rtl="0" eaLnBrk="1" latinLnBrk="0" hangingPunct="1">
      <a:defRPr sz="1200" kern="1200">
        <a:solidFill>
          <a:schemeClr val="tx1"/>
        </a:solidFill>
        <a:latin typeface="Tahoma" pitchFamily="34" charset="0"/>
        <a:ea typeface="Tahoma" pitchFamily="34" charset="0"/>
        <a:cs typeface="Tahoma" pitchFamily="34" charset="0"/>
      </a:defRPr>
    </a:lvl3pPr>
    <a:lvl4pPr marL="1371600" algn="l" defTabSz="914400" rtl="0" eaLnBrk="1" latinLnBrk="0" hangingPunct="1">
      <a:defRPr sz="1200" kern="1200">
        <a:solidFill>
          <a:schemeClr val="tx1"/>
        </a:solidFill>
        <a:latin typeface="Tahoma" pitchFamily="34" charset="0"/>
        <a:ea typeface="Tahoma" pitchFamily="34" charset="0"/>
        <a:cs typeface="Tahoma" pitchFamily="34" charset="0"/>
      </a:defRPr>
    </a:lvl4pPr>
    <a:lvl5pPr marL="1828800" algn="l" defTabSz="914400" rtl="0" eaLnBrk="1" latinLnBrk="0" hangingPunct="1">
      <a:defRPr sz="1200" kern="1200">
        <a:solidFill>
          <a:schemeClr val="tx1"/>
        </a:solidFill>
        <a:latin typeface="Tahoma" pitchFamily="34" charset="0"/>
        <a:ea typeface="Tahoma" pitchFamily="34" charset="0"/>
        <a:cs typeface="Tahoma"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9B577F-6036-4BCD-9021-A736CBC28733}"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461528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2625" y="1456511"/>
            <a:ext cx="7772400" cy="457200"/>
          </a:xfrm>
        </p:spPr>
        <p:txBody>
          <a:bodyPr anchor="b" anchorCtr="0"/>
          <a:lstStyle>
            <a:lvl1pPr algn="ctr">
              <a:defRPr sz="2400" b="1">
                <a:latin typeface="Tahoma" pitchFamily="34" charset="0"/>
                <a:ea typeface="Tahoma" pitchFamily="34" charset="0"/>
                <a:cs typeface="Tahoma" pitchFamily="34" charset="0"/>
              </a:defRPr>
            </a:lvl1pPr>
          </a:lstStyle>
          <a:p>
            <a:r>
              <a:rPr lang="en-US"/>
              <a:t>Click to edit Master title style</a:t>
            </a:r>
            <a:endParaRPr lang="en-US" dirty="0"/>
          </a:p>
        </p:txBody>
      </p:sp>
      <p:sp>
        <p:nvSpPr>
          <p:cNvPr id="6" name="Subtitle 2"/>
          <p:cNvSpPr>
            <a:spLocks noGrp="1"/>
          </p:cNvSpPr>
          <p:nvPr>
            <p:ph type="subTitle" idx="1" hasCustomPrompt="1"/>
          </p:nvPr>
        </p:nvSpPr>
        <p:spPr>
          <a:xfrm>
            <a:off x="1371600" y="2057400"/>
            <a:ext cx="6400800" cy="1752600"/>
          </a:xfrm>
        </p:spPr>
        <p:txBody>
          <a:bodyPr/>
          <a:lstStyle>
            <a:lvl1pPr marL="0" indent="0" algn="ctr">
              <a:buNone/>
              <a:defRPr sz="1800">
                <a:latin typeface="Tahoma" pitchFamily="34" charset="0"/>
                <a:ea typeface="Tahoma" pitchFamily="34" charset="0"/>
                <a:cs typeface="Tahoma"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add briefer names</a:t>
            </a:r>
          </a:p>
        </p:txBody>
      </p:sp>
      <p:cxnSp>
        <p:nvCxnSpPr>
          <p:cNvPr id="7" name="Straight Connector 6"/>
          <p:cNvCxnSpPr>
            <a:cxnSpLocks noChangeShapeType="1"/>
          </p:cNvCxnSpPr>
          <p:nvPr userDrawn="1"/>
        </p:nvCxnSpPr>
        <p:spPr bwMode="auto">
          <a:xfrm>
            <a:off x="381000" y="19796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51280" y="5226161"/>
            <a:ext cx="1241441" cy="749220"/>
          </a:xfrm>
          <a:prstGeom prst="rect">
            <a:avLst/>
          </a:prstGeom>
        </p:spPr>
      </p:pic>
      <p:sp>
        <p:nvSpPr>
          <p:cNvPr id="9" name="Text Placeholder 8"/>
          <p:cNvSpPr>
            <a:spLocks noGrp="1"/>
          </p:cNvSpPr>
          <p:nvPr>
            <p:ph type="body" sz="quarter" idx="12" hasCustomPrompt="1"/>
          </p:nvPr>
        </p:nvSpPr>
        <p:spPr>
          <a:xfrm>
            <a:off x="1375646" y="4049486"/>
            <a:ext cx="6393425" cy="720221"/>
          </a:xfrm>
        </p:spPr>
        <p:txBody>
          <a:bodyPr/>
          <a:lstStyle>
            <a:lvl1pPr algn="ctr" eaLnBrk="1" hangingPunct="1">
              <a:defRPr sz="1600">
                <a:solidFill>
                  <a:schemeClr val="bg1">
                    <a:lumMod val="65000"/>
                  </a:schemeClr>
                </a:solidFill>
              </a:defRPr>
            </a:lvl1pPr>
          </a:lstStyle>
          <a:p>
            <a:pPr eaLnBrk="1" hangingPunct="1"/>
            <a:r>
              <a:rPr lang="en-US" dirty="0">
                <a:latin typeface="Tahoma" charset="0"/>
              </a:rPr>
              <a:t>Click to edit “Briefing prepared for”</a:t>
            </a:r>
          </a:p>
        </p:txBody>
      </p:sp>
      <p:sp>
        <p:nvSpPr>
          <p:cNvPr id="11" name="Text Placeholder 10"/>
          <p:cNvSpPr>
            <a:spLocks noGrp="1"/>
          </p:cNvSpPr>
          <p:nvPr>
            <p:ph type="body" sz="quarter" idx="13" hasCustomPrompt="1"/>
          </p:nvPr>
        </p:nvSpPr>
        <p:spPr>
          <a:xfrm>
            <a:off x="2740025" y="4790048"/>
            <a:ext cx="3657599" cy="322825"/>
          </a:xfrm>
        </p:spPr>
        <p:txBody>
          <a:bodyPr/>
          <a:lstStyle>
            <a:lvl1pPr algn="ctr" eaLnBrk="1" hangingPunct="1">
              <a:defRPr sz="1600">
                <a:solidFill>
                  <a:schemeClr val="bg1">
                    <a:lumMod val="65000"/>
                  </a:schemeClr>
                </a:solidFill>
              </a:defRPr>
            </a:lvl1pPr>
          </a:lstStyle>
          <a:p>
            <a:pPr eaLnBrk="1" hangingPunct="1"/>
            <a:r>
              <a:rPr lang="en-US" dirty="0">
                <a:latin typeface="Tahoma" charset="0"/>
              </a:rPr>
              <a:t>Click to edit Date</a:t>
            </a:r>
          </a:p>
        </p:txBody>
      </p:sp>
    </p:spTree>
    <p:extLst>
      <p:ext uri="{BB962C8B-B14F-4D97-AF65-F5344CB8AC3E}">
        <p14:creationId xmlns:p14="http://schemas.microsoft.com/office/powerpoint/2010/main" val="342142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Slide_No 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2171973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Slide_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8" name="Text Placeholder 3"/>
          <p:cNvSpPr>
            <a:spLocks noGrp="1"/>
          </p:cNvSpPr>
          <p:nvPr>
            <p:ph type="body" sz="quarter" idx="12" hasCustomPrompt="1"/>
          </p:nvPr>
        </p:nvSpPr>
        <p:spPr>
          <a:xfrm>
            <a:off x="685800" y="3352798"/>
            <a:ext cx="7772400" cy="465138"/>
          </a:xfrm>
        </p:spPr>
        <p:txBody>
          <a:bodyPr/>
          <a:lstStyle>
            <a:lvl1pPr algn="ctr">
              <a:defRPr sz="1800">
                <a:solidFill>
                  <a:schemeClr val="bg1">
                    <a:lumMod val="65000"/>
                  </a:schemeClr>
                </a:solidFill>
              </a:defRPr>
            </a:lvl1pPr>
          </a:lstStyle>
          <a:p>
            <a:pPr lvl="0"/>
            <a:r>
              <a:rPr lang="en-US" dirty="0"/>
              <a:t>Click to add subtitle</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2543357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_Hea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hasCustomPrompt="1"/>
          </p:nvPr>
        </p:nvSpPr>
        <p:spPr>
          <a:xfrm>
            <a:off x="657225" y="4329372"/>
            <a:ext cx="7772400" cy="1461828"/>
          </a:xfrm>
        </p:spPr>
        <p:txBody>
          <a:bodyPr anchor="t"/>
          <a:lstStyle>
            <a:lvl1pPr algn="l">
              <a:defRPr sz="2400" b="1" baseline="0">
                <a:latin typeface="Tahoma" pitchFamily="34" charset="0"/>
                <a:ea typeface="Tahoma" pitchFamily="34" charset="0"/>
                <a:cs typeface="Tahoma" pitchFamily="34" charset="0"/>
              </a:defRPr>
            </a:lvl1pPr>
          </a:lstStyle>
          <a:p>
            <a:r>
              <a:rPr lang="en-US" dirty="0"/>
              <a:t>CLICK TO EDIT MASTER TITLE STYLE</a:t>
            </a:r>
          </a:p>
        </p:txBody>
      </p:sp>
      <p:cxnSp>
        <p:nvCxnSpPr>
          <p:cNvPr id="6" name="Straight Connector 5"/>
          <p:cNvCxnSpPr>
            <a:cxnSpLocks noChangeShapeType="1"/>
          </p:cNvCxnSpPr>
          <p:nvPr userDrawn="1"/>
        </p:nvCxnSpPr>
        <p:spPr bwMode="auto">
          <a:xfrm>
            <a:off x="381000" y="4341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7" name="Text Placeholder 3"/>
          <p:cNvSpPr>
            <a:spLocks noGrp="1"/>
          </p:cNvSpPr>
          <p:nvPr>
            <p:ph type="body" sz="quarter" idx="12"/>
          </p:nvPr>
        </p:nvSpPr>
        <p:spPr>
          <a:xfrm>
            <a:off x="669472" y="2954111"/>
            <a:ext cx="7772400" cy="1379538"/>
          </a:xfrm>
        </p:spPr>
        <p:txBody>
          <a:bodyPr anchor="b"/>
          <a:lstStyle>
            <a:lvl1pPr algn="l">
              <a:defRPr sz="1800">
                <a:solidFill>
                  <a:schemeClr val="bg1">
                    <a:lumMod val="65000"/>
                  </a:schemeClr>
                </a:solidFill>
              </a:defRPr>
            </a:lvl1pPr>
          </a:lstStyle>
          <a:p>
            <a:pPr lvl="0"/>
            <a:r>
              <a:rPr lang="en-US"/>
              <a:t>Click to edit Master text styles</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3751012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and_Content">
    <p:spTree>
      <p:nvGrpSpPr>
        <p:cNvPr id="1" name=""/>
        <p:cNvGrpSpPr/>
        <p:nvPr/>
      </p:nvGrpSpPr>
      <p:grpSpPr>
        <a:xfrm>
          <a:off x="0" y="0"/>
          <a:ext cx="0" cy="0"/>
          <a:chOff x="0" y="0"/>
          <a:chExt cx="0" cy="0"/>
        </a:xfrm>
      </p:grpSpPr>
      <p:sp>
        <p:nvSpPr>
          <p:cNvPr id="6" name="Title 1"/>
          <p:cNvSpPr>
            <a:spLocks noGrp="1"/>
          </p:cNvSpPr>
          <p:nvPr>
            <p:ph type="ctrTitle"/>
          </p:nvPr>
        </p:nvSpPr>
        <p:spPr>
          <a:xfrm>
            <a:off x="1622425" y="151418"/>
            <a:ext cx="7140575" cy="612648"/>
          </a:xfrm>
        </p:spPr>
        <p:txBody>
          <a:bodyPr>
            <a:normAutofit/>
          </a:bodyPr>
          <a:lstStyle>
            <a:lvl1pPr algn="l">
              <a:defRPr sz="2400" b="0">
                <a:latin typeface="Calibri" panose="020F0502020204030204" pitchFamily="34" charset="0"/>
                <a:ea typeface="Tahoma" pitchFamily="34" charset="0"/>
                <a:cs typeface="Calibri" panose="020F0502020204030204" pitchFamily="34" charset="0"/>
              </a:defRPr>
            </a:lvl1pPr>
          </a:lstStyle>
          <a:p>
            <a:r>
              <a:rPr lang="en-US"/>
              <a:t>Click to edit Master title style</a:t>
            </a:r>
            <a:endParaRPr lang="en-US" dirty="0"/>
          </a:p>
        </p:txBody>
      </p:sp>
      <p:cxnSp>
        <p:nvCxnSpPr>
          <p:cNvPr id="7" name="Straight Connector 6"/>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cxnSp>
        <p:nvCxnSpPr>
          <p:cNvPr id="8" name="Straight Connector 7"/>
          <p:cNvCxnSpPr>
            <a:cxnSpLocks/>
          </p:cNvCxnSpPr>
          <p:nvPr userDrawn="1"/>
        </p:nvCxnSpPr>
        <p:spPr>
          <a:xfrm flipH="1">
            <a:off x="4572000" y="841688"/>
            <a:ext cx="12825" cy="5708338"/>
          </a:xfrm>
          <a:prstGeom prst="line">
            <a:avLst/>
          </a:prstGeom>
          <a:ln w="3175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381000" y="3657600"/>
            <a:ext cx="845820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1390050" y="893550"/>
            <a:ext cx="1981200" cy="307777"/>
          </a:xfrm>
          <a:prstGeom prst="rect">
            <a:avLst/>
          </a:prstGeom>
          <a:noFill/>
        </p:spPr>
        <p:txBody>
          <a:bodyPr wrap="square" rtlCol="0">
            <a:spAutoFit/>
          </a:bodyPr>
          <a:lstStyle/>
          <a:p>
            <a:pPr algn="ctr"/>
            <a:r>
              <a:rPr lang="en-US" sz="1400" b="1" dirty="0">
                <a:solidFill>
                  <a:prstClr val="black"/>
                </a:solidFill>
                <a:latin typeface="Calibri" panose="020F0502020204030204" pitchFamily="34" charset="0"/>
                <a:cs typeface="Calibri" panose="020F0502020204030204" pitchFamily="34" charset="0"/>
              </a:rPr>
              <a:t>CONCEPT</a:t>
            </a:r>
            <a:endParaRPr lang="en-US" sz="1200" b="1" dirty="0">
              <a:solidFill>
                <a:prstClr val="black"/>
              </a:solidFill>
              <a:latin typeface="Calibri" panose="020F0502020204030204" pitchFamily="34" charset="0"/>
              <a:cs typeface="Calibri" panose="020F0502020204030204" pitchFamily="34" charset="0"/>
            </a:endParaRPr>
          </a:p>
        </p:txBody>
      </p:sp>
      <p:sp>
        <p:nvSpPr>
          <p:cNvPr id="12" name="TextBox 11"/>
          <p:cNvSpPr txBox="1"/>
          <p:nvPr userDrawn="1"/>
        </p:nvSpPr>
        <p:spPr>
          <a:xfrm>
            <a:off x="932850" y="3657600"/>
            <a:ext cx="2895600" cy="307777"/>
          </a:xfrm>
          <a:prstGeom prst="rect">
            <a:avLst/>
          </a:prstGeom>
          <a:noFill/>
        </p:spPr>
        <p:txBody>
          <a:bodyPr wrap="square" rtlCol="0">
            <a:spAutoFit/>
          </a:bodyPr>
          <a:lstStyle/>
          <a:p>
            <a:pPr algn="ctr"/>
            <a:r>
              <a:rPr lang="en-US" sz="1400" b="1" dirty="0">
                <a:solidFill>
                  <a:prstClr val="black"/>
                </a:solidFill>
                <a:latin typeface="Calibri" panose="020F0502020204030204" pitchFamily="34" charset="0"/>
                <a:cs typeface="Calibri" panose="020F0502020204030204" pitchFamily="34" charset="0"/>
              </a:rPr>
              <a:t>RISKS</a:t>
            </a:r>
            <a:endParaRPr lang="en-US" sz="1200" b="1" dirty="0">
              <a:solidFill>
                <a:prstClr val="black"/>
              </a:solidFill>
              <a:latin typeface="Calibri" panose="020F0502020204030204" pitchFamily="34" charset="0"/>
              <a:cs typeface="Calibri" panose="020F0502020204030204" pitchFamily="34" charset="0"/>
            </a:endParaRPr>
          </a:p>
        </p:txBody>
      </p:sp>
      <p:sp>
        <p:nvSpPr>
          <p:cNvPr id="14" name="TextBox 13"/>
          <p:cNvSpPr txBox="1"/>
          <p:nvPr userDrawn="1"/>
        </p:nvSpPr>
        <p:spPr>
          <a:xfrm>
            <a:off x="5087750" y="3676050"/>
            <a:ext cx="3295650" cy="307777"/>
          </a:xfrm>
          <a:prstGeom prst="rect">
            <a:avLst/>
          </a:prstGeom>
          <a:noFill/>
        </p:spPr>
        <p:txBody>
          <a:bodyPr wrap="square" rtlCol="0">
            <a:spAutoFit/>
          </a:bodyPr>
          <a:lstStyle/>
          <a:p>
            <a:pPr algn="ctr"/>
            <a:r>
              <a:rPr lang="en-US" sz="1400" b="1" dirty="0">
                <a:solidFill>
                  <a:prstClr val="black"/>
                </a:solidFill>
                <a:latin typeface="Calibri" panose="020F0502020204030204" pitchFamily="34" charset="0"/>
                <a:cs typeface="Calibri" panose="020F0502020204030204" pitchFamily="34" charset="0"/>
              </a:rPr>
              <a:t>TEAM</a:t>
            </a:r>
            <a:endParaRPr lang="en-US" sz="1200" b="1" dirty="0">
              <a:solidFill>
                <a:prstClr val="black"/>
              </a:solidFill>
              <a:latin typeface="Calibri" panose="020F0502020204030204" pitchFamily="34" charset="0"/>
              <a:cs typeface="Calibri" panose="020F0502020204030204" pitchFamily="34" charset="0"/>
            </a:endParaRPr>
          </a:p>
        </p:txBody>
      </p:sp>
      <p:sp>
        <p:nvSpPr>
          <p:cNvPr id="15" name="TextBox 13"/>
          <p:cNvSpPr txBox="1"/>
          <p:nvPr userDrawn="1"/>
        </p:nvSpPr>
        <p:spPr>
          <a:xfrm>
            <a:off x="4693641" y="933573"/>
            <a:ext cx="3909268"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dirty="0">
                <a:solidFill>
                  <a:prstClr val="black"/>
                </a:solidFill>
                <a:latin typeface="Calibri" panose="020F0502020204030204" pitchFamily="34" charset="0"/>
                <a:cs typeface="Calibri" panose="020F0502020204030204" pitchFamily="34" charset="0"/>
              </a:rPr>
              <a:t>APPROACH</a:t>
            </a:r>
            <a:endParaRPr lang="en-US" sz="1200" b="1"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70237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ogo_and_Title_Only">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cxnSp>
        <p:nvCxnSpPr>
          <p:cNvPr id="6" name="Straight Connector 5"/>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7"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102521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_Two_Row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sz="quarter" idx="14"/>
          </p:nvPr>
        </p:nvSpPr>
        <p:spPr>
          <a:xfrm>
            <a:off x="457200" y="35814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44676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_Two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sz="quarter" idx="14"/>
          </p:nvPr>
        </p:nvSpPr>
        <p:spPr>
          <a:xfrm>
            <a:off x="4648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22424"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22050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_Three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sz="quarter" idx="14"/>
          </p:nvPr>
        </p:nvSpPr>
        <p:spPr>
          <a:xfrm>
            <a:off x="32766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sz="quarter" idx="15"/>
          </p:nvPr>
        </p:nvSpPr>
        <p:spPr>
          <a:xfrm>
            <a:off x="60960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896424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_Four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2" y="1066800"/>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sz="quarter" idx="14"/>
          </p:nvPr>
        </p:nvSpPr>
        <p:spPr>
          <a:xfrm>
            <a:off x="4645481" y="1066800"/>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sz="quarter" idx="15"/>
          </p:nvPr>
        </p:nvSpPr>
        <p:spPr>
          <a:xfrm>
            <a:off x="4645477" y="3521528"/>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quarter" idx="16"/>
          </p:nvPr>
        </p:nvSpPr>
        <p:spPr>
          <a:xfrm>
            <a:off x="454481" y="3529693"/>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1"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486640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_Six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6" name="Content Placeholder 2"/>
          <p:cNvSpPr>
            <a:spLocks noGrp="1"/>
          </p:cNvSpPr>
          <p:nvPr>
            <p:ph sz="quarter" idx="13"/>
          </p:nvPr>
        </p:nvSpPr>
        <p:spPr>
          <a:xfrm>
            <a:off x="4572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sz="quarter" idx="14"/>
          </p:nvPr>
        </p:nvSpPr>
        <p:spPr>
          <a:xfrm>
            <a:off x="32766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quarter" idx="15"/>
          </p:nvPr>
        </p:nvSpPr>
        <p:spPr>
          <a:xfrm>
            <a:off x="462643"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sz="quarter" idx="16"/>
          </p:nvPr>
        </p:nvSpPr>
        <p:spPr>
          <a:xfrm>
            <a:off x="6090557"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7"/>
          </p:nvPr>
        </p:nvSpPr>
        <p:spPr>
          <a:xfrm>
            <a:off x="6096000"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sz="quarter" idx="18"/>
          </p:nvPr>
        </p:nvSpPr>
        <p:spPr>
          <a:xfrm>
            <a:off x="3282044" y="3537858"/>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986321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_Caption">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4"/>
          </p:nvPr>
        </p:nvSpPr>
        <p:spPr>
          <a:xfrm>
            <a:off x="3535137" y="1066801"/>
            <a:ext cx="5227864" cy="4811486"/>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quarter" idx="15"/>
          </p:nvPr>
        </p:nvSpPr>
        <p:spPr>
          <a:xfrm>
            <a:off x="563566" y="1763488"/>
            <a:ext cx="2873601" cy="4115027"/>
          </a:xfrm>
        </p:spPr>
        <p:txBody>
          <a:bodyPr/>
          <a:lstStyle>
            <a:lvl1pPr>
              <a:defRPr sz="1400"/>
            </a:lvl1pPr>
          </a:lstStyle>
          <a:p>
            <a:pPr lvl="0"/>
            <a:r>
              <a:rPr lang="en-US"/>
              <a:t>Click to edit Master text styles</a:t>
            </a:r>
          </a:p>
        </p:txBody>
      </p:sp>
      <p:sp>
        <p:nvSpPr>
          <p:cNvPr id="7" name="Text Placeholder 3"/>
          <p:cNvSpPr>
            <a:spLocks noGrp="1"/>
          </p:cNvSpPr>
          <p:nvPr>
            <p:ph type="body" sz="quarter" idx="16"/>
          </p:nvPr>
        </p:nvSpPr>
        <p:spPr>
          <a:xfrm>
            <a:off x="571501" y="1066799"/>
            <a:ext cx="2871107" cy="696687"/>
          </a:xfrm>
        </p:spPr>
        <p:txBody>
          <a:bodyPr anchor="b"/>
          <a:lstStyle>
            <a:lvl1pPr algn="l">
              <a:defRPr sz="2000" b="1" baseline="0"/>
            </a:lvl1pPr>
          </a:lstStyle>
          <a:p>
            <a:pPr lvl="0"/>
            <a:r>
              <a:rPr lang="en-US"/>
              <a:t>Click to edit Master text styles</a:t>
            </a:r>
          </a:p>
          <a:p>
            <a:pPr lvl="1"/>
            <a:r>
              <a:rPr lang="en-US"/>
              <a:t>Second level</a:t>
            </a:r>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289588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cluding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extBox 4"/>
          <p:cNvSpPr txBox="1"/>
          <p:nvPr userDrawn="1"/>
        </p:nvSpPr>
        <p:spPr>
          <a:xfrm>
            <a:off x="3729431" y="3525877"/>
            <a:ext cx="1716111" cy="369332"/>
          </a:xfrm>
          <a:prstGeom prst="rect">
            <a:avLst/>
          </a:prstGeom>
          <a:noFill/>
        </p:spPr>
        <p:txBody>
          <a:bodyPr wrap="none" rtlCol="0">
            <a:spAutoFit/>
          </a:bodyPr>
          <a:lstStyle/>
          <a:p>
            <a:r>
              <a:rPr lang="en-US" dirty="0">
                <a:solidFill>
                  <a:prstClr val="black"/>
                </a:solidFill>
                <a:ea typeface="Tahoma" pitchFamily="34" charset="0"/>
                <a:cs typeface="Tahoma" pitchFamily="34" charset="0"/>
              </a:rPr>
              <a:t>www.darpa.mil</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5182" y="2531269"/>
            <a:ext cx="1770360" cy="1068427"/>
          </a:xfrm>
          <a:prstGeom prst="rect">
            <a:avLst/>
          </a:prstGeom>
        </p:spPr>
      </p:pic>
    </p:spTree>
    <p:extLst>
      <p:ext uri="{BB962C8B-B14F-4D97-AF65-F5344CB8AC3E}">
        <p14:creationId xmlns:p14="http://schemas.microsoft.com/office/powerpoint/2010/main" val="15990562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RPA_Quad_Chart_Guidelin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Rectangle 4"/>
          <p:cNvSpPr/>
          <p:nvPr userDrawn="1"/>
        </p:nvSpPr>
        <p:spPr>
          <a:xfrm>
            <a:off x="1447800" y="5181600"/>
            <a:ext cx="1524000" cy="762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3810000" y="5181600"/>
            <a:ext cx="1524000" cy="762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Rectangle 6"/>
          <p:cNvSpPr/>
          <p:nvPr userDrawn="1"/>
        </p:nvSpPr>
        <p:spPr>
          <a:xfrm>
            <a:off x="6172200" y="5181600"/>
            <a:ext cx="1524000" cy="76200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TextBox 7"/>
          <p:cNvSpPr txBox="1"/>
          <p:nvPr userDrawn="1"/>
        </p:nvSpPr>
        <p:spPr>
          <a:xfrm>
            <a:off x="1676400" y="5410200"/>
            <a:ext cx="1066800" cy="261610"/>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rPr>
              <a:t>Concept</a:t>
            </a:r>
          </a:p>
        </p:txBody>
      </p:sp>
      <p:sp>
        <p:nvSpPr>
          <p:cNvPr id="9" name="TextBox 8"/>
          <p:cNvSpPr txBox="1"/>
          <p:nvPr userDrawn="1"/>
        </p:nvSpPr>
        <p:spPr>
          <a:xfrm>
            <a:off x="4038600" y="5422272"/>
            <a:ext cx="1066800" cy="261610"/>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rPr>
              <a:t>Prototype</a:t>
            </a:r>
          </a:p>
        </p:txBody>
      </p:sp>
      <p:sp>
        <p:nvSpPr>
          <p:cNvPr id="10" name="TextBox 9"/>
          <p:cNvSpPr txBox="1"/>
          <p:nvPr userDrawn="1"/>
        </p:nvSpPr>
        <p:spPr>
          <a:xfrm>
            <a:off x="6286500" y="5347157"/>
            <a:ext cx="1295400" cy="430887"/>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rPr>
              <a:t>Field Demonstration</a:t>
            </a:r>
          </a:p>
        </p:txBody>
      </p:sp>
      <p:sp>
        <p:nvSpPr>
          <p:cNvPr id="11" name="TextBox 10"/>
          <p:cNvSpPr txBox="1"/>
          <p:nvPr userDrawn="1"/>
        </p:nvSpPr>
        <p:spPr>
          <a:xfrm>
            <a:off x="381000" y="1232807"/>
            <a:ext cx="8382000" cy="3785652"/>
          </a:xfrm>
          <a:prstGeom prst="rect">
            <a:avLst/>
          </a:prstGeom>
          <a:noFill/>
        </p:spPr>
        <p:txBody>
          <a:bodyPr wrap="square" rtlCol="0">
            <a:spAutoFit/>
          </a:bodyPr>
          <a:lstStyle/>
          <a:p>
            <a:pPr marL="342900" indent="-342900" fontAlgn="base">
              <a:spcBef>
                <a:spcPct val="20000"/>
              </a:spcBef>
              <a:buFont typeface="Arial" pitchFamily="34" charset="0"/>
              <a:buNone/>
              <a:defRPr/>
            </a:pPr>
            <a:r>
              <a:rPr lang="en-US" sz="1200" dirty="0">
                <a:solidFill>
                  <a:srgbClr val="000000"/>
                </a:solidFill>
                <a:ea typeface="MS PGothic"/>
                <a:cs typeface="MS PGothic"/>
              </a:rPr>
              <a:t>The following two slides outline the format for two different quad charts that will be used for Congressional Staffer day and internal DARPA use. The only difference between the two quad charts is the bottom right-hand quadrant as follows: </a:t>
            </a:r>
            <a:endParaRPr lang="en-US" sz="1200" dirty="0">
              <a:solidFill>
                <a:prstClr val="black"/>
              </a:solidFill>
              <a:latin typeface="Times New Roman"/>
              <a:ea typeface="Times New Roman"/>
              <a:cs typeface="Tahoma" pitchFamily="34" charset="0"/>
            </a:endParaRPr>
          </a:p>
          <a:p>
            <a:pPr marL="742950" lvl="1" indent="-285750" fontAlgn="base">
              <a:spcBef>
                <a:spcPct val="20000"/>
              </a:spcBef>
              <a:buFont typeface="Arial" pitchFamily="34" charset="0"/>
              <a:buChar char="•"/>
              <a:defRPr/>
            </a:pPr>
            <a:r>
              <a:rPr lang="en-US" sz="1200" dirty="0">
                <a:solidFill>
                  <a:srgbClr val="000000"/>
                </a:solidFill>
                <a:ea typeface="MS PGothic"/>
                <a:cs typeface="MS PGothic"/>
              </a:rPr>
              <a:t>Staffer: Names and locations of performers. </a:t>
            </a:r>
          </a:p>
          <a:p>
            <a:pPr marL="742950" lvl="1" indent="-285750" fontAlgn="base">
              <a:spcBef>
                <a:spcPct val="20000"/>
              </a:spcBef>
              <a:buFont typeface="Arial" pitchFamily="34" charset="0"/>
              <a:buChar char="•"/>
              <a:defRPr/>
            </a:pPr>
            <a:r>
              <a:rPr lang="en-US" sz="1200" dirty="0">
                <a:solidFill>
                  <a:srgbClr val="000000"/>
                </a:solidFill>
                <a:ea typeface="MS PGothic"/>
                <a:cs typeface="MS PGothic"/>
              </a:rPr>
              <a:t>Internal DARPA: Issues/challenges and a spend plan status. </a:t>
            </a:r>
            <a:endParaRPr lang="en-US" sz="1200" dirty="0">
              <a:solidFill>
                <a:prstClr val="black"/>
              </a:solidFill>
              <a:latin typeface="Times New Roman"/>
              <a:ea typeface="Times New Roman"/>
              <a:cs typeface="Times New Roman"/>
            </a:endParaRPr>
          </a:p>
          <a:p>
            <a:pPr marL="342900" indent="-342900" fontAlgn="base">
              <a:spcBef>
                <a:spcPct val="20000"/>
              </a:spcBef>
              <a:buFont typeface="Arial" pitchFamily="34" charset="0"/>
              <a:buNone/>
              <a:defRPr/>
            </a:pPr>
            <a:endParaRPr lang="en-US" sz="1200" dirty="0">
              <a:solidFill>
                <a:prstClr val="black"/>
              </a:solidFill>
              <a:latin typeface="Times New Roman"/>
              <a:ea typeface="Times New Roman"/>
              <a:cs typeface="Times New Roman"/>
            </a:endParaRPr>
          </a:p>
          <a:p>
            <a:pPr marL="342900" indent="-342900" fontAlgn="base">
              <a:spcBef>
                <a:spcPct val="20000"/>
              </a:spcBef>
              <a:buFont typeface="Arial" pitchFamily="34" charset="0"/>
              <a:buNone/>
              <a:defRPr/>
            </a:pPr>
            <a:r>
              <a:rPr lang="en-US" sz="1200" dirty="0">
                <a:solidFill>
                  <a:srgbClr val="000000"/>
                </a:solidFill>
                <a:ea typeface="MS PGothic"/>
                <a:cs typeface="MS PGothic"/>
              </a:rPr>
              <a:t>Formatting for both the internal DARPA and staffer quads:  </a:t>
            </a:r>
            <a:endParaRPr lang="en-US" sz="1200" dirty="0">
              <a:solidFill>
                <a:prstClr val="black"/>
              </a:solidFill>
              <a:latin typeface="Times New Roman"/>
              <a:ea typeface="Times New Roman"/>
              <a:cs typeface="Tahoma" pitchFamily="34"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Font: </a:t>
            </a:r>
            <a:r>
              <a:rPr lang="en-US" sz="1200" dirty="0">
                <a:solidFill>
                  <a:srgbClr val="000000"/>
                </a:solidFill>
                <a:ea typeface="MS PGothic"/>
                <a:cs typeface="MS PGothic"/>
              </a:rPr>
              <a:t>Tahoma</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Color: </a:t>
            </a:r>
            <a:r>
              <a:rPr lang="en-US" sz="1200" dirty="0">
                <a:solidFill>
                  <a:srgbClr val="000000"/>
                </a:solidFill>
                <a:ea typeface="MS PGothic"/>
                <a:cs typeface="MS PGothic"/>
              </a:rPr>
              <a:t>Font color = black</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Sizes: </a:t>
            </a:r>
            <a:r>
              <a:rPr lang="en-US" sz="1200" dirty="0">
                <a:solidFill>
                  <a:srgbClr val="000000"/>
                </a:solidFill>
                <a:ea typeface="MS PGothic"/>
                <a:cs typeface="MS PGothic"/>
              </a:rPr>
              <a:t>Font size is set at 12 pt., decreasing to 11 pt. and 9 pt. for sub-bullets.  (Recognizing that some programs will have more information needed on the quad charts than others, text size may be reduced but, for ease of </a:t>
            </a:r>
            <a:br>
              <a:rPr lang="en-US" sz="1200" dirty="0">
                <a:solidFill>
                  <a:srgbClr val="000000"/>
                </a:solidFill>
                <a:ea typeface="MS PGothic"/>
                <a:cs typeface="MS PGothic"/>
              </a:rPr>
            </a:br>
            <a:r>
              <a:rPr lang="en-US" sz="1200" dirty="0">
                <a:solidFill>
                  <a:srgbClr val="000000"/>
                </a:solidFill>
                <a:ea typeface="MS PGothic"/>
                <a:cs typeface="MS PGothic"/>
              </a:rPr>
              <a:t>reading, should never be smaller than 9 pt.) </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Font style: </a:t>
            </a:r>
            <a:r>
              <a:rPr lang="en-US" sz="1200" dirty="0">
                <a:solidFill>
                  <a:srgbClr val="000000"/>
                </a:solidFill>
                <a:ea typeface="MS PGothic"/>
                <a:cs typeface="MS PGothic"/>
              </a:rPr>
              <a:t>Avoid the use of bold unless needed</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Bullets and sub-bullets: </a:t>
            </a:r>
            <a:r>
              <a:rPr lang="en-US" sz="1200" dirty="0">
                <a:solidFill>
                  <a:srgbClr val="000000"/>
                </a:solidFill>
                <a:ea typeface="MS PGothic"/>
                <a:cs typeface="MS PGothic"/>
              </a:rPr>
              <a:t>Solid dots</a:t>
            </a:r>
            <a:endParaRPr lang="en-US" sz="1200" dirty="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rPr>
              <a:t>Status Boxes: </a:t>
            </a:r>
            <a:r>
              <a:rPr lang="en-US" sz="1200" dirty="0">
                <a:solidFill>
                  <a:srgbClr val="000000"/>
                </a:solidFill>
                <a:ea typeface="MS PGothic"/>
                <a:cs typeface="MS PGothic"/>
              </a:rPr>
              <a:t>In the upper right hand corner of each quad chart, there is a placeholder for one of these three boxes. Please replace the existing placeholder with the corresponding box that represents the status of the program:</a:t>
            </a:r>
            <a:endParaRPr lang="en-US" sz="1200" dirty="0">
              <a:solidFill>
                <a:prstClr val="black"/>
              </a:solidFill>
              <a:latin typeface="Times New Roman"/>
              <a:ea typeface="Times New Roman"/>
              <a:cs typeface="Times New Roman"/>
            </a:endParaRPr>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7143967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rPr>
              <a:t>PE:</a:t>
            </a:r>
          </a:p>
        </p:txBody>
      </p:sp>
      <p:sp>
        <p:nvSpPr>
          <p:cNvPr id="11" name="TextBox 10"/>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rPr>
              <a:t>PROJECT:</a:t>
            </a:r>
          </a:p>
        </p:txBody>
      </p:sp>
      <p:sp>
        <p:nvSpPr>
          <p:cNvPr id="12" name="TextBox 11"/>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rPr>
              <a:t>RDDS PG #:</a:t>
            </a:r>
          </a:p>
        </p:txBody>
      </p:sp>
      <p:sp>
        <p:nvSpPr>
          <p:cNvPr id="23"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a:t>-</a:t>
            </a:r>
          </a:p>
        </p:txBody>
      </p:sp>
      <p:sp>
        <p:nvSpPr>
          <p:cNvPr id="24"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25"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19"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0"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13" name="TextBox 12"/>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FY13</a:t>
            </a:r>
          </a:p>
        </p:txBody>
      </p:sp>
      <p:sp>
        <p:nvSpPr>
          <p:cNvPr id="14" name="TextBox 13"/>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FY12</a:t>
            </a:r>
          </a:p>
        </p:txBody>
      </p:sp>
      <p:sp>
        <p:nvSpPr>
          <p:cNvPr id="15" name="TextBox 14"/>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FY11</a:t>
            </a:r>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a:t>Program Name (Acronym)</a:t>
            </a:r>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rPr>
              <a:t>LOCATION:</a:t>
            </a: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9688769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rPr>
              <a:t>PE:</a:t>
            </a:r>
          </a:p>
        </p:txBody>
      </p:sp>
      <p:sp>
        <p:nvSpPr>
          <p:cNvPr id="11" name="TextBox 10"/>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rPr>
              <a:t>PROJECT:</a:t>
            </a:r>
          </a:p>
        </p:txBody>
      </p:sp>
      <p:sp>
        <p:nvSpPr>
          <p:cNvPr id="12" name="TextBox 11"/>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rPr>
              <a:t>RDDS PG #:</a:t>
            </a:r>
          </a:p>
        </p:txBody>
      </p:sp>
      <p:sp>
        <p:nvSpPr>
          <p:cNvPr id="23"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a:t>-</a:t>
            </a:r>
          </a:p>
        </p:txBody>
      </p:sp>
      <p:sp>
        <p:nvSpPr>
          <p:cNvPr id="24"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25"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1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4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44"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3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34" name="Text Placeholder 39"/>
          <p:cNvSpPr>
            <a:spLocks noGrp="1"/>
          </p:cNvSpPr>
          <p:nvPr>
            <p:ph type="body" sz="quarter" idx="32"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43" name="Text Placeholder 39"/>
          <p:cNvSpPr>
            <a:spLocks noGrp="1"/>
          </p:cNvSpPr>
          <p:nvPr>
            <p:ph type="body" sz="quarter" idx="33"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13" name="TextBox 12"/>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FY13</a:t>
            </a:r>
          </a:p>
        </p:txBody>
      </p:sp>
      <p:sp>
        <p:nvSpPr>
          <p:cNvPr id="14" name="TextBox 13"/>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FY12</a:t>
            </a:r>
          </a:p>
        </p:txBody>
      </p:sp>
      <p:sp>
        <p:nvSpPr>
          <p:cNvPr id="15" name="TextBox 14"/>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FY11</a:t>
            </a:r>
          </a:p>
        </p:txBody>
      </p:sp>
      <p:sp>
        <p:nvSpPr>
          <p:cNvPr id="45" name="TextBox 44"/>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PROJECT</a:t>
            </a:r>
          </a:p>
        </p:txBody>
      </p:sp>
      <p:sp>
        <p:nvSpPr>
          <p:cNvPr id="46" name="Text Placeholder 39"/>
          <p:cNvSpPr>
            <a:spLocks noGrp="1"/>
          </p:cNvSpPr>
          <p:nvPr userDrawn="1">
            <p:ph type="body" sz="quarter" idx="34"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48" name="Text Placeholder 39"/>
          <p:cNvSpPr>
            <a:spLocks noGrp="1"/>
          </p:cNvSpPr>
          <p:nvPr userDrawn="1">
            <p:ph type="body" sz="quarter" idx="35"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3" name="Footer Placeholder 2"/>
          <p:cNvSpPr>
            <a:spLocks noGrp="1"/>
          </p:cNvSpPr>
          <p:nvPr userDrawn="1">
            <p:ph type="ftr" sz="quarter" idx="10"/>
          </p:nvPr>
        </p:nvSpPr>
        <p:spPr/>
        <p:txBody>
          <a:bodyPr/>
          <a:lstStyle/>
          <a:p>
            <a:pPr>
              <a:defRPr/>
            </a:pPr>
            <a:r>
              <a:rPr lang="en-US"/>
              <a:t>DARPA-BAA-14-62    ICONS  </a:t>
            </a: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a:t>Program Name (Acronym)</a:t>
            </a:r>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rPr>
              <a:t>LOCATION:</a:t>
            </a: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5743251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rPr>
              <a:t>PE:</a:t>
            </a:r>
          </a:p>
        </p:txBody>
      </p:sp>
      <p:sp>
        <p:nvSpPr>
          <p:cNvPr id="11" name="TextBox 10"/>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rPr>
              <a:t>PROJECT:</a:t>
            </a:r>
          </a:p>
        </p:txBody>
      </p:sp>
      <p:sp>
        <p:nvSpPr>
          <p:cNvPr id="12" name="TextBox 11"/>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rPr>
              <a:t>RDDS PG #:</a:t>
            </a:r>
          </a:p>
        </p:txBody>
      </p:sp>
      <p:sp>
        <p:nvSpPr>
          <p:cNvPr id="23"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a:t>-</a:t>
            </a:r>
          </a:p>
        </p:txBody>
      </p:sp>
      <p:sp>
        <p:nvSpPr>
          <p:cNvPr id="24"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a:t>-</a:t>
            </a:r>
          </a:p>
        </p:txBody>
      </p:sp>
      <p:sp>
        <p:nvSpPr>
          <p:cNvPr id="25"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a:t>
            </a:r>
          </a:p>
        </p:txBody>
      </p:sp>
      <p:sp>
        <p:nvSpPr>
          <p:cNvPr id="19"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40"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44"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32"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34"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43"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13" name="TextBox 12"/>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FY13</a:t>
            </a:r>
          </a:p>
        </p:txBody>
      </p:sp>
      <p:sp>
        <p:nvSpPr>
          <p:cNvPr id="14" name="TextBox 13"/>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FY12</a:t>
            </a:r>
          </a:p>
        </p:txBody>
      </p:sp>
      <p:sp>
        <p:nvSpPr>
          <p:cNvPr id="15" name="TextBox 14"/>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FY11</a:t>
            </a:r>
          </a:p>
        </p:txBody>
      </p:sp>
      <p:sp>
        <p:nvSpPr>
          <p:cNvPr id="45" name="TextBox 44"/>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PROJECT</a:t>
            </a:r>
          </a:p>
        </p:txBody>
      </p:sp>
      <p:sp>
        <p:nvSpPr>
          <p:cNvPr id="46" name="Text Placeholder 39"/>
          <p:cNvSpPr>
            <a:spLocks noGrp="1"/>
          </p:cNvSpPr>
          <p:nvPr userDrawn="1">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48" name="Text Placeholder 39"/>
          <p:cNvSpPr>
            <a:spLocks noGrp="1"/>
          </p:cNvSpPr>
          <p:nvPr userDrawn="1">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3" name="Footer Placeholder 2"/>
          <p:cNvSpPr>
            <a:spLocks noGrp="1"/>
          </p:cNvSpPr>
          <p:nvPr userDrawn="1">
            <p:ph type="ftr" sz="quarter" idx="10"/>
          </p:nvPr>
        </p:nvSpPr>
        <p:spPr/>
        <p:txBody>
          <a:bodyPr/>
          <a:lstStyle/>
          <a:p>
            <a:pPr>
              <a:defRPr/>
            </a:pPr>
            <a:r>
              <a:rPr lang="en-US"/>
              <a:t>DARPA-BAA-14-62    ICONS  </a:t>
            </a: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a:t>Program Name (Acronym)</a:t>
            </a:r>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rPr>
              <a:t>LOCATION:</a:t>
            </a:r>
          </a:p>
        </p:txBody>
      </p:sp>
      <p:sp>
        <p:nvSpPr>
          <p:cNvPr id="49" name="Text Placeholder 39"/>
          <p:cNvSpPr>
            <a:spLocks noGrp="1"/>
          </p:cNvSpPr>
          <p:nvPr userDrawn="1">
            <p:ph type="body" sz="quarter" idx="36"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50" name="Text Placeholder 39"/>
          <p:cNvSpPr>
            <a:spLocks noGrp="1"/>
          </p:cNvSpPr>
          <p:nvPr userDrawn="1">
            <p:ph type="body" sz="quarter" idx="37"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51" name="Text Placeholder 39"/>
          <p:cNvSpPr>
            <a:spLocks noGrp="1"/>
          </p:cNvSpPr>
          <p:nvPr userDrawn="1">
            <p:ph type="body" sz="quarter" idx="38"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52" name="Text Placeholder 39"/>
          <p:cNvSpPr>
            <a:spLocks noGrp="1"/>
          </p:cNvSpPr>
          <p:nvPr userDrawn="1">
            <p:ph type="body" sz="quarter" idx="39"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59017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RO_Update_Concept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13" name="TextBox 12"/>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16"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29"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
        <p:nvSpPr>
          <p:cNvPr id="30" name="Rectangle 29"/>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TextBox 30"/>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Concept</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rPr>
              <a:t>PE:</a:t>
            </a:r>
          </a:p>
        </p:txBody>
      </p:sp>
      <p:sp>
        <p:nvSpPr>
          <p:cNvPr id="37" name="TextBox 36"/>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rPr>
              <a:t>PROJECT:</a:t>
            </a:r>
          </a:p>
        </p:txBody>
      </p:sp>
      <p:sp>
        <p:nvSpPr>
          <p:cNvPr id="38" name="TextBox 37"/>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rPr>
              <a:t>RDDS PG #:</a:t>
            </a:r>
          </a:p>
        </p:txBody>
      </p:sp>
      <p:sp>
        <p:nvSpPr>
          <p:cNvPr id="39"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a:t>-</a:t>
            </a:r>
          </a:p>
        </p:txBody>
      </p:sp>
      <p:sp>
        <p:nvSpPr>
          <p:cNvPr id="40"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41"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42"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3"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45" name="TextBox 44"/>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FY13</a:t>
            </a:r>
          </a:p>
        </p:txBody>
      </p:sp>
      <p:sp>
        <p:nvSpPr>
          <p:cNvPr id="46" name="TextBox 45"/>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FY12</a:t>
            </a:r>
          </a:p>
        </p:txBody>
      </p:sp>
      <p:sp>
        <p:nvSpPr>
          <p:cNvPr id="47" name="TextBox 46"/>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FY11</a:t>
            </a:r>
          </a:p>
        </p:txBody>
      </p:sp>
      <p:sp>
        <p:nvSpPr>
          <p:cNvPr id="48" name="TextBox 47"/>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9" name="TextBox 48"/>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50" name="TextBox 49"/>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52" name="Straight Connector 5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3" name="Straight Connector 52"/>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4"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5"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6"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2"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1" name="Straight Connector 5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7571287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RO_Update_Prototype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0" name="Rectangle 29"/>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TextBox 30"/>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Prototype</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37" name="TextBox 3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38" name="TextBox 3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39" name="TextBox 3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1" name="Straight Connector 4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3"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5"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6"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7" name="TextBox 46"/>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rPr>
              <a:t>PE:</a:t>
            </a:r>
          </a:p>
        </p:txBody>
      </p:sp>
      <p:sp>
        <p:nvSpPr>
          <p:cNvPr id="48" name="TextBox 47"/>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rPr>
              <a:t>PROJECT:</a:t>
            </a:r>
          </a:p>
        </p:txBody>
      </p:sp>
      <p:sp>
        <p:nvSpPr>
          <p:cNvPr id="49" name="TextBox 48"/>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rPr>
              <a:t>RDDS PG #:</a:t>
            </a:r>
          </a:p>
        </p:txBody>
      </p:sp>
      <p:sp>
        <p:nvSpPr>
          <p:cNvPr id="50"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a:t>-</a:t>
            </a:r>
          </a:p>
        </p:txBody>
      </p:sp>
      <p:sp>
        <p:nvSpPr>
          <p:cNvPr id="51"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2"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3"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4"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5"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6" name="TextBox 55"/>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FY13</a:t>
            </a:r>
          </a:p>
        </p:txBody>
      </p:sp>
      <p:sp>
        <p:nvSpPr>
          <p:cNvPr id="57" name="TextBox 56"/>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FY12</a:t>
            </a:r>
          </a:p>
        </p:txBody>
      </p:sp>
      <p:sp>
        <p:nvSpPr>
          <p:cNvPr id="58" name="TextBox 57"/>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FY11</a:t>
            </a:r>
          </a:p>
        </p:txBody>
      </p:sp>
      <p:cxnSp>
        <p:nvCxnSpPr>
          <p:cNvPr id="59" name="Straight Connector 58"/>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6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6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15989124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RO_Update_Field Demonstration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0" name="Rectangle 29"/>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TextBox 30"/>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rPr>
              <a:t>Field</a:t>
            </a:r>
          </a:p>
          <a:p>
            <a:pPr algn="ctr"/>
            <a:r>
              <a:rPr lang="en-US" sz="1050" dirty="0">
                <a:solidFill>
                  <a:prstClr val="black"/>
                </a:solidFill>
                <a:ea typeface="Tahoma" pitchFamily="34" charset="0"/>
                <a:cs typeface="Tahoma" pitchFamily="34" charset="0"/>
              </a:rPr>
              <a:t>Demonstration</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37" name="TextBox 3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38" name="TextBox 3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39" name="TextBox 3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1" name="Straight Connector 4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3"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5"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6"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7" name="TextBox 46"/>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rPr>
              <a:t>PE:</a:t>
            </a:r>
          </a:p>
        </p:txBody>
      </p:sp>
      <p:sp>
        <p:nvSpPr>
          <p:cNvPr id="48" name="TextBox 47"/>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rPr>
              <a:t>PROJECT:</a:t>
            </a:r>
          </a:p>
        </p:txBody>
      </p:sp>
      <p:sp>
        <p:nvSpPr>
          <p:cNvPr id="49" name="TextBox 48"/>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rPr>
              <a:t>RDDS PG #:</a:t>
            </a:r>
          </a:p>
        </p:txBody>
      </p:sp>
      <p:sp>
        <p:nvSpPr>
          <p:cNvPr id="50"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a:t>-</a:t>
            </a:r>
          </a:p>
        </p:txBody>
      </p:sp>
      <p:sp>
        <p:nvSpPr>
          <p:cNvPr id="51"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2"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3"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4"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5"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a:t>0.000</a:t>
            </a:r>
          </a:p>
        </p:txBody>
      </p:sp>
      <p:sp>
        <p:nvSpPr>
          <p:cNvPr id="56" name="TextBox 55"/>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FY13</a:t>
            </a:r>
          </a:p>
        </p:txBody>
      </p:sp>
      <p:sp>
        <p:nvSpPr>
          <p:cNvPr id="57" name="TextBox 56"/>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FY12</a:t>
            </a:r>
          </a:p>
        </p:txBody>
      </p:sp>
      <p:sp>
        <p:nvSpPr>
          <p:cNvPr id="58" name="TextBox 57"/>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a:solidFill>
                  <a:prstClr val="black"/>
                </a:solidFill>
              </a:rPr>
              <a:t>FY11</a:t>
            </a:r>
          </a:p>
        </p:txBody>
      </p:sp>
      <p:cxnSp>
        <p:nvCxnSpPr>
          <p:cNvPr id="59" name="Straight Connector 58"/>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6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6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548186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RO_Update_Concept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TextBox 36"/>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Concept</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a:t>-</a:t>
            </a:r>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7562233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RO_Update_Prototype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TextBox 36"/>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Prototype</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a:t>-</a:t>
            </a:r>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6084832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RO_Update_Field Demonstration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TextBox 36"/>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rPr>
              <a:t>Field</a:t>
            </a:r>
          </a:p>
          <a:p>
            <a:pPr algn="ctr"/>
            <a:r>
              <a:rPr lang="en-US" sz="1050" dirty="0">
                <a:solidFill>
                  <a:prstClr val="black"/>
                </a:solidFill>
                <a:ea typeface="Tahoma" pitchFamily="34" charset="0"/>
                <a:cs typeface="Tahoma" pitchFamily="34" charset="0"/>
              </a:rPr>
              <a:t>Demonstration</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a:t>-</a:t>
            </a:r>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0.000</a:t>
            </a:r>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a:solidFill>
                  <a:prstClr val="black"/>
                </a:solidFill>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a:t>-</a:t>
            </a:r>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39003935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RO_Update_Concept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TextBox 40"/>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Concept</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a:t>-</a:t>
            </a:r>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a:t>-</a:t>
            </a:r>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8791543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RO_Update_Prototype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TextBox 40"/>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rPr>
              <a:t>Prototype</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a:t>-</a:t>
            </a:r>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a:t>-</a:t>
            </a:r>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6844537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RO_Update_Field Demonstration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TextBox 40"/>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rPr>
              <a:t>Field</a:t>
            </a:r>
          </a:p>
          <a:p>
            <a:pPr algn="ctr"/>
            <a:r>
              <a:rPr lang="en-US" sz="1050" dirty="0">
                <a:solidFill>
                  <a:prstClr val="black"/>
                </a:solidFill>
                <a:ea typeface="Tahoma" pitchFamily="34" charset="0"/>
                <a:cs typeface="Tahoma" pitchFamily="34" charset="0"/>
              </a:rPr>
              <a:t>Demonstration</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Insert text, images, and/or charts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a:latin typeface="Tahoma" pitchFamily="34" charset="0"/>
                <a:ea typeface="Tahoma" pitchFamily="34" charset="0"/>
                <a:cs typeface="Tahoma" pitchFamily="34" charset="0"/>
              </a:rPr>
              <a:t>Date started - Planned end - Upcoming key decision - Transition partners - Technical risk</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a:t>Issues/Challenges and spend plan status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a:t>-</a:t>
            </a:r>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a:t>-</a:t>
            </a:r>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a:solidFill>
                  <a:prstClr val="black"/>
                </a:solidFill>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0.000</a:t>
            </a:r>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a:t>-</a:t>
            </a:r>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a:t>Program Name (Acronym)</a:t>
            </a:r>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PM / Office</a:t>
            </a:r>
          </a:p>
        </p:txBody>
      </p:sp>
    </p:spTree>
    <p:extLst>
      <p:ext uri="{BB962C8B-B14F-4D97-AF65-F5344CB8AC3E}">
        <p14:creationId xmlns:p14="http://schemas.microsoft.com/office/powerpoint/2010/main" val="20450453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and_Content_Vert">
    <p:spTree>
      <p:nvGrpSpPr>
        <p:cNvPr id="1" name=""/>
        <p:cNvGrpSpPr/>
        <p:nvPr/>
      </p:nvGrpSpPr>
      <p:grpSpPr>
        <a:xfrm>
          <a:off x="0" y="0"/>
          <a:ext cx="0" cy="0"/>
          <a:chOff x="0" y="0"/>
          <a:chExt cx="0" cy="0"/>
        </a:xfrm>
      </p:grpSpPr>
      <p:sp>
        <p:nvSpPr>
          <p:cNvPr id="5" name="Content Placeholder 10"/>
          <p:cNvSpPr>
            <a:spLocks noGrp="1"/>
          </p:cNvSpPr>
          <p:nvPr>
            <p:ph sz="quarter" idx="13"/>
          </p:nvPr>
        </p:nvSpPr>
        <p:spPr>
          <a:xfrm rot="5400000">
            <a:off x="1152522" y="-142872"/>
            <a:ext cx="6400803" cy="7143751"/>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vl2pPr>
            <a:lvl3pPr marL="1143000" indent="-228600">
              <a:buFont typeface="Arial" pitchFamily="34" charset="0"/>
              <a:buChar char="•"/>
              <a:defRPr sz="1400"/>
            </a:lvl3pPr>
            <a:lvl4pPr marL="1600200" indent="-228600">
              <a:buFont typeface="Arial" pitchFamily="34" charset="0"/>
              <a:buChar char="•"/>
              <a:defRPr sz="1300"/>
            </a:lvl4pPr>
            <a:lvl5pPr marL="2057400" indent="-228600">
              <a:buFont typeface="Arial" pitchFamily="34" charset="0"/>
              <a:buChar char="•"/>
              <a:defRPr sz="13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p:cNvSpPr>
            <a:spLocks noGrp="1"/>
          </p:cNvSpPr>
          <p:nvPr>
            <p:ph type="ftr" sz="quarter" idx="10"/>
          </p:nvPr>
        </p:nvSpPr>
        <p:spPr>
          <a:xfrm rot="5400000">
            <a:off x="-2528935" y="3278187"/>
            <a:ext cx="5546817" cy="298450"/>
          </a:xfrm>
        </p:spPr>
        <p:txBody>
          <a:bodyPr/>
          <a:lstStyle/>
          <a:p>
            <a:pPr>
              <a:defRPr/>
            </a:pPr>
            <a:r>
              <a:rPr lang="en-US"/>
              <a:t>DARPA-BAA-14-62    ICONS  </a:t>
            </a:r>
            <a:endParaRPr lang="en-US" dirty="0"/>
          </a:p>
        </p:txBody>
      </p:sp>
      <p:sp>
        <p:nvSpPr>
          <p:cNvPr id="4" name="Slide Number Placeholder 3"/>
          <p:cNvSpPr>
            <a:spLocks noGrp="1"/>
          </p:cNvSpPr>
          <p:nvPr>
            <p:ph type="sldNum" sz="quarter" idx="11"/>
          </p:nvPr>
        </p:nvSpPr>
        <p:spPr>
          <a:xfrm rot="5400000">
            <a:off x="-23720" y="6357843"/>
            <a:ext cx="530038" cy="292102"/>
          </a:xfrm>
        </p:spPr>
        <p:txBody>
          <a:bodyPr/>
          <a:lstStyle/>
          <a:p>
            <a:pPr>
              <a:defRPr/>
            </a:pPr>
            <a:fld id="{231CC523-8BC6-4921-807A-66BD262F34AB}" type="slidenum">
              <a:rPr lang="en-US" smtClean="0"/>
              <a:pPr>
                <a:defRPr/>
              </a:pPr>
              <a:t>‹#›</a:t>
            </a:fld>
            <a:endParaRPr lang="en-US"/>
          </a:p>
        </p:txBody>
      </p:sp>
      <p:sp>
        <p:nvSpPr>
          <p:cNvPr id="6" name="Title 1"/>
          <p:cNvSpPr>
            <a:spLocks noGrp="1"/>
          </p:cNvSpPr>
          <p:nvPr>
            <p:ph type="ctrTitle"/>
          </p:nvPr>
        </p:nvSpPr>
        <p:spPr>
          <a:xfrm rot="5400000">
            <a:off x="6100764" y="3695703"/>
            <a:ext cx="5191125" cy="676275"/>
          </a:xfrm>
        </p:spPr>
        <p:txBody>
          <a:bodyPr>
            <a:normAutofit/>
          </a:bodyPr>
          <a:lstStyle>
            <a:lvl1pPr algn="l">
              <a:defRPr sz="2400" b="0">
                <a:latin typeface="Tahoma" pitchFamily="34" charset="0"/>
                <a:ea typeface="Tahoma" pitchFamily="34" charset="0"/>
                <a:cs typeface="Tahoma" pitchFamily="34" charset="0"/>
              </a:defRPr>
            </a:lvl1pPr>
          </a:lstStyle>
          <a:p>
            <a:r>
              <a:rPr lang="en-US"/>
              <a:t>Click to edit Master title style</a:t>
            </a:r>
            <a:endParaRPr lang="en-US" dirty="0"/>
          </a:p>
        </p:txBody>
      </p:sp>
      <p:cxnSp>
        <p:nvCxnSpPr>
          <p:cNvPr id="7" name="Straight Connector 6"/>
          <p:cNvCxnSpPr>
            <a:cxnSpLocks noChangeShapeType="1"/>
          </p:cNvCxnSpPr>
          <p:nvPr userDrawn="1"/>
        </p:nvCxnSpPr>
        <p:spPr bwMode="auto">
          <a:xfrm flipH="1">
            <a:off x="8266909" y="228600"/>
            <a:ext cx="1588" cy="6410325"/>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8156508" y="374048"/>
            <a:ext cx="1085438" cy="655071"/>
          </a:xfrm>
          <a:prstGeom prst="rect">
            <a:avLst/>
          </a:prstGeom>
        </p:spPr>
      </p:pic>
    </p:spTree>
    <p:extLst>
      <p:ext uri="{BB962C8B-B14F-4D97-AF65-F5344CB8AC3E}">
        <p14:creationId xmlns:p14="http://schemas.microsoft.com/office/powerpoint/2010/main" val="7835324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ext Placeholder 2"/>
          <p:cNvSpPr>
            <a:spLocks noGrp="1"/>
          </p:cNvSpPr>
          <p:nvPr>
            <p:ph type="body" idx="1"/>
          </p:nvPr>
        </p:nvSpPr>
        <p:spPr bwMode="auto">
          <a:xfrm>
            <a:off x="381000" y="12192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p:cNvSpPr>
            <a:spLocks noGrp="1"/>
          </p:cNvSpPr>
          <p:nvPr>
            <p:ph type="ftr" sz="quarter" idx="3"/>
          </p:nvPr>
        </p:nvSpPr>
        <p:spPr>
          <a:xfrm>
            <a:off x="1333500" y="6550026"/>
            <a:ext cx="6477000" cy="298450"/>
          </a:xfrm>
          <a:prstGeom prst="rect">
            <a:avLst/>
          </a:prstGeom>
        </p:spPr>
        <p:txBody>
          <a:bodyPr vert="horz" wrap="square" lIns="91440" tIns="45720" rIns="91440" bIns="45720" numCol="1" anchor="ctr" anchorCtr="0" compatLnSpc="1">
            <a:prstTxWarp prst="textNoShape">
              <a:avLst/>
            </a:prstTxWarp>
          </a:bodyPr>
          <a:lstStyle>
            <a:lvl1pPr algn="ctr">
              <a:defRPr sz="900" baseline="0">
                <a:solidFill>
                  <a:srgbClr val="898989"/>
                </a:solidFill>
                <a:latin typeface="Tahoma" charset="0"/>
              </a:defRPr>
            </a:lvl1pPr>
          </a:lstStyle>
          <a:p>
            <a:pPr>
              <a:defRPr/>
            </a:pPr>
            <a:r>
              <a:rPr lang="en-US"/>
              <a:t>DARPA-BAA-14-62    ICONS  </a:t>
            </a:r>
            <a:endParaRPr lang="en-US" dirty="0"/>
          </a:p>
        </p:txBody>
      </p:sp>
      <p:sp>
        <p:nvSpPr>
          <p:cNvPr id="12" name="Slide Number Placeholder 5"/>
          <p:cNvSpPr>
            <a:spLocks noGrp="1"/>
          </p:cNvSpPr>
          <p:nvPr>
            <p:ph type="sldNum" sz="quarter" idx="4"/>
          </p:nvPr>
        </p:nvSpPr>
        <p:spPr>
          <a:xfrm>
            <a:off x="8102430" y="6553200"/>
            <a:ext cx="762000" cy="292102"/>
          </a:xfrm>
          <a:prstGeom prst="rect">
            <a:avLst/>
          </a:prstGeom>
        </p:spPr>
        <p:txBody>
          <a:bodyPr vert="horz" wrap="square" lIns="91440" tIns="45720" rIns="91440" bIns="45720" numCol="1" anchor="ctr" anchorCtr="0" compatLnSpc="1">
            <a:prstTxWarp prst="textNoShape">
              <a:avLst/>
            </a:prstTxWarp>
          </a:bodyPr>
          <a:lstStyle>
            <a:lvl1pPr algn="r">
              <a:defRPr sz="1200" baseline="0">
                <a:solidFill>
                  <a:srgbClr val="898989"/>
                </a:solidFill>
                <a:latin typeface="Tahoma" charset="0"/>
              </a:defRPr>
            </a:lvl1pPr>
          </a:lstStyle>
          <a:p>
            <a:pPr>
              <a:defRPr/>
            </a:pPr>
            <a:fld id="{231CC523-8BC6-4921-807A-66BD262F34AB}" type="slidenum">
              <a:rPr lang="en-US"/>
              <a:pPr>
                <a:defRPr/>
              </a:pPr>
              <a:t>‹#›</a:t>
            </a:fld>
            <a:endParaRPr lang="en-US"/>
          </a:p>
        </p:txBody>
      </p:sp>
      <p:sp>
        <p:nvSpPr>
          <p:cNvPr id="13" name="Title Placeholder 9"/>
          <p:cNvSpPr>
            <a:spLocks noGrp="1"/>
          </p:cNvSpPr>
          <p:nvPr>
            <p:ph type="title"/>
          </p:nvPr>
        </p:nvSpPr>
        <p:spPr bwMode="auto">
          <a:xfrm>
            <a:off x="1622424" y="152400"/>
            <a:ext cx="7140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Master title style</a:t>
            </a:r>
          </a:p>
        </p:txBody>
      </p:sp>
      <p:sp>
        <p:nvSpPr>
          <p:cNvPr id="2" name="Date Placeholder 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Tree>
    <p:extLst>
      <p:ext uri="{BB962C8B-B14F-4D97-AF65-F5344CB8AC3E}">
        <p14:creationId xmlns:p14="http://schemas.microsoft.com/office/powerpoint/2010/main" val="1211192292"/>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 id="2147483779" r:id="rId20"/>
    <p:sldLayoutId id="2147483780" r:id="rId21"/>
    <p:sldLayoutId id="2147483781" r:id="rId22"/>
    <p:sldLayoutId id="2147483782" r:id="rId23"/>
    <p:sldLayoutId id="2147483783" r:id="rId24"/>
    <p:sldLayoutId id="2147483784" r:id="rId25"/>
    <p:sldLayoutId id="2147483785" r:id="rId26"/>
    <p:sldLayoutId id="2147483786" r:id="rId27"/>
  </p:sldLayoutIdLst>
  <p:hf hdr="0" dt="0"/>
  <p:txStyles>
    <p:titleStyle>
      <a:lvl1pPr algn="l" defTabSz="914400" rtl="0" eaLnBrk="1" latinLnBrk="0" hangingPunct="1">
        <a:spcBef>
          <a:spcPct val="0"/>
        </a:spcBef>
        <a:buNone/>
        <a:defRPr sz="2200" kern="1200">
          <a:solidFill>
            <a:schemeClr val="tx1"/>
          </a:solidFill>
          <a:latin typeface="Tahoma" pitchFamily="34" charset="0"/>
          <a:ea typeface="+mj-ea"/>
          <a:cs typeface="Tahoma" pitchFamily="34" charset="0"/>
        </a:defRPr>
      </a:lvl1pPr>
    </p:titleStyle>
    <p:bodyStyle>
      <a:lvl1pPr marL="342900" indent="-342900" algn="l" defTabSz="914400" rtl="0" eaLnBrk="1" latinLnBrk="0" hangingPunct="1">
        <a:spcBef>
          <a:spcPct val="20000"/>
        </a:spcBef>
        <a:buFont typeface="Arial" pitchFamily="34" charset="0"/>
        <a:buNone/>
        <a:defRPr sz="2000" kern="120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7"/>
          <p:cNvSpPr txBox="1">
            <a:spLocks noGrp="1"/>
          </p:cNvSpPr>
          <p:nvPr>
            <p:ph type="ctrTitle"/>
          </p:nvPr>
        </p:nvSpPr>
        <p:spPr>
          <a:xfrm>
            <a:off x="406554" y="162570"/>
            <a:ext cx="5471732" cy="612648"/>
          </a:xfrm>
          <a:prstGeom prst="rect">
            <a:avLst/>
          </a:prstGeom>
        </p:spPr>
        <p:txBody>
          <a:bodyPr wrap="square">
            <a:normAutofit fontScale="90000"/>
          </a:bodyPr>
          <a:lstStyle/>
          <a:p>
            <a:pPr lvl="0" fontAlgn="base">
              <a:spcAft>
                <a:spcPct val="0"/>
              </a:spcAft>
              <a:defRPr/>
            </a:pPr>
            <a:br>
              <a:rPr lang="en-US" dirty="0">
                <a:solidFill>
                  <a:srgbClr val="FF0000"/>
                </a:solidFill>
                <a:ea typeface="ＭＳ Ｐゴシック" pitchFamily="-32" charset="-128"/>
              </a:rPr>
            </a:br>
            <a:r>
              <a:rPr sz="700">
                <a:solidFill>
                  <a:srgbClr val="000000"/>
                </a:solidFill>
                <a:latin typeface="Tahoma"/>
              </a:rPr>
              <a:t>SCBE Mathematical Framework for Agentic Communication Protocols</a:t>
            </a:r>
            <a:endParaRPr kumimoji="0" lang="en-US" sz="1600" b="0" i="0" u="none" strike="noStrike" kern="1200" cap="none" spc="0" normalizeH="0" baseline="0" noProof="0" dirty="0">
              <a:ln>
                <a:noFill/>
              </a:ln>
              <a:solidFill>
                <a:srgbClr val="FF0000"/>
              </a:solidFill>
              <a:effectLst/>
              <a:uLnTx/>
              <a:uFillTx/>
              <a:ea typeface="ＭＳ Ｐゴシック" pitchFamily="-32" charset="-128"/>
            </a:endParaRPr>
          </a:p>
          <a:p>
            <a:pPr lvl="0" fontAlgn="base">
              <a:spcAft>
                <a:spcPct val="0"/>
              </a:spcAft>
              <a:defRPr/>
            </a:pPr>
            <a:br>
              <a:rPr lang="en-US" dirty="0">
                <a:solidFill>
                  <a:srgbClr val="FF0000"/>
                </a:solidFill>
                <a:ea typeface="ＭＳ Ｐゴシック" pitchFamily="-32" charset="-128"/>
              </a:rPr>
            </a:br>
            <a:r>
              <a:rPr sz="700">
                <a:solidFill>
                  <a:srgbClr val="000000"/>
                </a:solidFill>
                <a:latin typeface="Tahoma"/>
              </a:rPr>
              <a:t>ISSAC D DAVIS / SCBE-AETHERMOORE  |  Issac Davis, PI  |  (360) 808-0876  |  issdandavis7795@gmail.com  |  16 months  |  $839,000  |  UEI: J4NXHM6N5F59  |  Unclassified / Fundamental Research</a:t>
            </a:r>
            <a:endParaRPr kumimoji="0" lang="en-US" sz="1600" b="0" i="0" u="none" strike="noStrike" kern="1200" cap="none" spc="0" normalizeH="0" baseline="0" noProof="0" dirty="0">
              <a:ln>
                <a:noFill/>
              </a:ln>
              <a:solidFill>
                <a:srgbClr val="FF0000"/>
              </a:solidFill>
              <a:effectLst/>
              <a:uLnTx/>
              <a:uFillTx/>
              <a:ea typeface="ＭＳ Ｐゴシック" pitchFamily="-32" charset="-128"/>
            </a:endParaRPr>
          </a:p>
        </p:txBody>
      </p:sp>
      <p:sp>
        <p:nvSpPr>
          <p:cNvPr id="12" name="Text Placeholder 17"/>
          <p:cNvSpPr txBox="1">
            <a:spLocks/>
          </p:cNvSpPr>
          <p:nvPr/>
        </p:nvSpPr>
        <p:spPr>
          <a:xfrm>
            <a:off x="500063" y="1195388"/>
            <a:ext cx="3889375" cy="2251075"/>
          </a:xfrm>
          <a:prstGeom prst="rect">
            <a:avLst/>
          </a:prstGeom>
        </p:spPr>
        <p:txBody>
          <a:bodyPr wrap="square"/>
          <a:lstStyle>
            <a:lvl1pPr marL="342900" indent="-342900" algn="l" defTabSz="914400" rtl="0" eaLnBrk="1" latinLnBrk="0" hangingPunct="1">
              <a:spcBef>
                <a:spcPct val="20000"/>
              </a:spcBef>
              <a:buFont typeface="Arial" pitchFamily="34" charset="0"/>
              <a:buNone/>
              <a:defRPr sz="1400" kern="1200" baseline="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2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1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sz="900">
                <a:solidFill>
                  <a:srgbClr val="000000"/>
                </a:solidFill>
                <a:latin typeface="Tahoma"/>
              </a:rPr>
              <a:t>Composed operator T = L₁₄ ∘ ⋯ ∘ L₁ acting on:</a:t>
            </a:r>
          </a:p>
          <a:p>
            <a:r>
              <a:rPr sz="900">
                <a:solidFill>
                  <a:srgbClr val="000000"/>
                </a:solidFill>
                <a:latin typeface="Tahoma"/>
              </a:rPr>
              <a:t>ψ(t) = (ψ₁(t),…,ψ_N(t), G_t, pd(t)) ∈ Bⁿˣᴺ × G_N × ℝ₊</a:t>
            </a:r>
          </a:p>
          <a:p>
            <a:r>
              <a:rPr sz="900">
                <a:solidFill>
                  <a:srgbClr val="000000"/>
                </a:solidFill>
                <a:latin typeface="Tahoma"/>
              </a:rPr>
              <a:t/>
            </a:r>
          </a:p>
          <a:p>
            <a:r>
              <a:rPr sz="900">
                <a:solidFill>
                  <a:srgbClr val="000000"/>
                </a:solidFill>
                <a:latin typeface="Tahoma"/>
              </a:rPr>
              <a:t>Agent state ψ_i(t) embedded in Poincaré ball Bⁿ via L4 (exponential map).</a:t>
            </a:r>
          </a:p>
          <a:p>
            <a:r>
              <a:rPr sz="900">
                <a:solidFill>
                  <a:srgbClr val="000000"/>
                </a:solidFill>
                <a:latin typeface="Tahoma"/>
              </a:rPr>
              <a:t>Trust-weighted directed Laplacian: L_H(G_t), edge w_ij = H(d_H(ψ_i,ψ_j), pd_ij)</a:t>
            </a:r>
          </a:p>
          <a:p>
            <a:r>
              <a:rPr sz="900">
                <a:solidFill>
                  <a:srgbClr val="000000"/>
                </a:solidFill>
                <a:latin typeface="Tahoma"/>
              </a:rPr>
              <a:t>Harmonic wall (L12): H(d,pd) = 1/(1 + φ·d_H + 2·pd) ∈ (0,1]</a:t>
            </a:r>
          </a:p>
          <a:p>
            <a:r>
              <a:rPr sz="900">
                <a:solidFill>
                  <a:srgbClr val="000000"/>
                </a:solidFill>
                <a:latin typeface="Tahoma"/>
              </a:rPr>
              <a:t>CDPTI = Re(λ₂(L_H(G_t))) / Re(λ₂(L_H(G_t0))) — signed coherence drift</a:t>
            </a:r>
          </a:p>
          <a:p>
            <a:r>
              <a:rPr sz="900">
                <a:solidFill>
                  <a:srgbClr val="000000"/>
                </a:solidFill>
                <a:latin typeface="Tahoma"/>
              </a:rPr>
              <a:t/>
            </a:r>
          </a:p>
          <a:p>
            <a:r>
              <a:rPr sz="900">
                <a:solidFill>
                  <a:srgbClr val="000000"/>
                </a:solidFill>
                <a:latin typeface="Tahoma"/>
              </a:rPr>
              <a:t>Safety is a geodesic property of T, not a post-hoc filter.</a:t>
            </a:r>
          </a:p>
          <a:p>
            <a:r>
              <a:rPr sz="900">
                <a:solidFill>
                  <a:srgbClr val="000000"/>
                </a:solidFill>
                <a:latin typeface="Tahoma"/>
              </a:rPr>
              <a:t>BAA alignment: TA1, MC-1 through MC-5</a:t>
            </a:r>
          </a:p>
        </p:txBody>
      </p:sp>
      <p:sp>
        <p:nvSpPr>
          <p:cNvPr id="13" name="Text Placeholder 19"/>
          <p:cNvSpPr txBox="1">
            <a:spLocks/>
          </p:cNvSpPr>
          <p:nvPr/>
        </p:nvSpPr>
        <p:spPr>
          <a:xfrm>
            <a:off x="490538" y="3953049"/>
            <a:ext cx="3956050" cy="2447751"/>
          </a:xfrm>
          <a:prstGeom prst="rect">
            <a:avLst/>
          </a:prstGeom>
        </p:spPr>
        <p:txBody>
          <a:bodyPr wrap="square"/>
          <a:lstStyle>
            <a:lvl1pPr marL="0" indent="0" algn="l" defTabSz="914400" rtl="0" eaLnBrk="1" latinLnBrk="0" hangingPunct="1">
              <a:spcBef>
                <a:spcPct val="20000"/>
              </a:spcBef>
              <a:buFont typeface="Arial" pitchFamily="34" charset="0"/>
              <a:buNone/>
              <a:defRPr sz="1400" kern="1200" baseline="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2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1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sz="900">
                <a:solidFill>
                  <a:srgbClr val="000000"/>
                </a:solidFill>
                <a:latin typeface="Tahoma"/>
              </a:rPr>
              <a:t>Phase I Objectives:</a:t>
            </a:r>
            <a:endParaRPr lang="en-US" dirty="0">
              <a:latin typeface="Calibri" panose="020F0502020204030204" pitchFamily="34" charset="0"/>
              <a:cs typeface="Calibri" panose="020F0502020204030204" pitchFamily="34" charset="0"/>
            </a:endParaRPr>
          </a:p>
          <a:p>
            <a:r>
              <a:rPr sz="900">
                <a:solidFill>
                  <a:srgbClr val="000000"/>
                </a:solidFill>
                <a:latin typeface="Tahoma"/>
              </a:rPr>
              <a:t>1. Operator formalization — Lyapunov constants η, b; NMR task families (M3)</a:t>
            </a:r>
            <a:endParaRPr lang="en-US" dirty="0">
              <a:latin typeface="Calibri" panose="020F0502020204030204" pitchFamily="34" charset="0"/>
              <a:cs typeface="Calibri" panose="020F0502020204030204" pitchFamily="34" charset="0"/>
            </a:endParaRPr>
          </a:p>
          <a:p>
            <a:r>
              <a:rPr sz="900">
                <a:solidFill>
                  <a:srgbClr val="000000"/>
                </a:solidFill>
                <a:latin typeface="Tahoma"/>
              </a:rPr>
              <a:t>2. CDPTI ≥ 95% recall, ≤ 5% FPR vs. Mixtral-8x7B baseline (M13)</a:t>
            </a:r>
            <a:endParaRPr lang="en-US" dirty="0">
              <a:latin typeface="Calibri" panose="020F0502020204030204" pitchFamily="34" charset="0"/>
              <a:cs typeface="Calibri" panose="020F0502020204030204" pitchFamily="34" charset="0"/>
            </a:endParaRPr>
          </a:p>
          <a:p>
            <a:r>
              <a:rPr sz="900">
                <a:solidFill>
                  <a:srgbClr val="000000"/>
                </a:solidFill>
                <a:latin typeface="Tahoma"/>
              </a:rPr>
              <a:t>3. Harmonic wall cost curve — φ-weighting ablation; adversarial overhead ratio (M9)</a:t>
            </a:r>
            <a:endParaRPr lang="en-US" dirty="0">
              <a:latin typeface="Calibri" panose="020F0502020204030204" pitchFamily="34" charset="0"/>
              <a:cs typeface="Calibri" panose="020F0502020204030204" pitchFamily="34" charset="0"/>
            </a:endParaRPr>
          </a:p>
          <a:p>
            <a:r>
              <a:rPr sz="900">
                <a:solidFill>
                  <a:srgbClr val="000000"/>
                </a:solidFill>
                <a:latin typeface="Tahoma"/>
              </a:rPr>
              <a:t>4. NMR validation — Task A (1H NMR→structure) + Task B (2D COSY); ChemBERTa-77M + Qwen2.5-Coder-0.5B; Hammett lane (M9)</a:t>
            </a:r>
            <a:endParaRPr lang="en-US" dirty="0">
              <a:latin typeface="Calibri" panose="020F0502020204030204" pitchFamily="34" charset="0"/>
              <a:cs typeface="Calibri" panose="020F0502020204030204" pitchFamily="34" charset="0"/>
            </a:endParaRPr>
          </a:p>
          <a:p>
            <a:r>
              <a:rPr sz="900">
                <a:solidFill>
                  <a:srgbClr val="000000"/>
                </a:solidFill>
                <a:latin typeface="Tahoma"/>
              </a:rPr>
              <a:t>5. Four PA metrics — MEE, ACV, CDPTI, PIS; IV&amp;V-computable from JSONL bundle</a:t>
            </a:r>
            <a:endParaRPr lang="en-US" dirty="0">
              <a:latin typeface="Calibri" panose="020F0502020204030204" pitchFamily="34" charset="0"/>
              <a:cs typeface="Calibri" panose="020F0502020204030204" pitchFamily="34" charset="0"/>
            </a:endParaRPr>
          </a:p>
          <a:p>
            <a:r>
              <a:rPr sz="900">
                <a:solidFill>
                  <a:srgbClr val="000000"/>
                </a:solidFill>
                <a:latin typeface="Tahoma"/>
              </a:rPr>
              <a:t/>
            </a:r>
            <a:endParaRPr lang="en-US" dirty="0">
              <a:latin typeface="Calibri" panose="020F0502020204030204" pitchFamily="34" charset="0"/>
              <a:cs typeface="Calibri" panose="020F0502020204030204" pitchFamily="34" charset="0"/>
            </a:endParaRPr>
          </a:p>
          <a:p>
            <a:r>
              <a:rPr sz="900">
                <a:solidFill>
                  <a:srgbClr val="000000"/>
                </a:solidFill>
                <a:latin typeface="Tahoma"/>
              </a:rPr>
              <a:t>Why composed operator:</a:t>
            </a:r>
            <a:endParaRPr lang="en-US" dirty="0">
              <a:latin typeface="Calibri" panose="020F0502020204030204" pitchFamily="34" charset="0"/>
              <a:cs typeface="Calibri" panose="020F0502020204030204" pitchFamily="34" charset="0"/>
            </a:endParaRPr>
          </a:p>
          <a:p>
            <a:r>
              <a:rPr sz="900">
                <a:solidFill>
                  <a:srgbClr val="000000"/>
                </a:solidFill>
                <a:latin typeface="Tahoma"/>
              </a:rPr>
              <a:t>Spera (2026, arXiv:2603.15973): 42.6% of 900 real trajectories have conjunctive multi-agent dependencies — T addresses directly via geometric accumulation.</a:t>
            </a:r>
            <a:endParaRPr lang="en-US" dirty="0">
              <a:latin typeface="Calibri" panose="020F0502020204030204" pitchFamily="34" charset="0"/>
              <a:cs typeface="Calibri" panose="020F0502020204030204" pitchFamily="34" charset="0"/>
            </a:endParaRPr>
          </a:p>
          <a:p>
            <a:r>
              <a:rPr sz="900">
                <a:solidFill>
                  <a:srgbClr val="000000"/>
                </a:solidFill>
                <a:latin typeface="Tahoma"/>
              </a:rPr>
              <a:t>Flat scores, behavioral contracts, post-hoc red-teaming all fail at protocol-graph level.</a:t>
            </a:r>
            <a:endParaRPr lang="en-US" dirty="0">
              <a:latin typeface="Calibri" panose="020F0502020204030204" pitchFamily="34" charset="0"/>
              <a:cs typeface="Calibri" panose="020F0502020204030204" pitchFamily="34" charset="0"/>
            </a:endParaRPr>
          </a:p>
        </p:txBody>
      </p:sp>
      <p:sp>
        <p:nvSpPr>
          <p:cNvPr id="4" name="TextBox 3"/>
          <p:cNvSpPr txBox="1"/>
          <p:nvPr/>
        </p:nvSpPr>
        <p:spPr>
          <a:xfrm>
            <a:off x="4705525" y="1198373"/>
            <a:ext cx="4133675" cy="307777"/>
          </a:xfrm>
          <a:prstGeom prst="rect">
            <a:avLst/>
          </a:prstGeom>
          <a:noFill/>
        </p:spPr>
        <p:txBody>
          <a:bodyPr wrap="square" rtlCol="0">
            <a:spAutoFit/>
          </a:bodyPr>
          <a:lstStyle/>
          <a:p>
            <a:r>
              <a:rPr sz="900">
                <a:solidFill>
                  <a:srgbClr val="000000"/>
                </a:solidFill>
                <a:latin typeface="Tahoma"/>
              </a:rPr>
              <a:t>PI: Issac Davis — SCBE-AETHERMOORE (sole prop, SAM-active; UEI J4NXHM6N5F59)</a:t>
            </a:r>
          </a:p>
          <a:p>
            <a:r>
              <a:rPr sz="900">
                <a:solidFill>
                  <a:srgbClr val="000000"/>
                </a:solidFill>
                <a:latin typeface="Tahoma"/>
              </a:rPr>
              <a:t>Sub: Hoags Inc. (bounded DAVA corroborating support, if finalized)</a:t>
            </a:r>
          </a:p>
          <a:p>
            <a:r>
              <a:rPr sz="900">
                <a:solidFill>
                  <a:srgbClr val="000000"/>
                </a:solidFill>
                <a:latin typeface="Tahoma"/>
              </a:rPr>
              <a:t/>
            </a:r>
          </a:p>
          <a:p>
            <a:r>
              <a:rPr sz="900">
                <a:solidFill>
                  <a:srgbClr val="000000"/>
                </a:solidFill>
                <a:latin typeface="Tahoma"/>
              </a:rPr>
              <a:t>Benchmark evidence:</a:t>
            </a:r>
          </a:p>
          <a:p>
            <a:r>
              <a:rPr sz="900">
                <a:solidFill>
                  <a:srgbClr val="000000"/>
                </a:solidFill>
                <a:latin typeface="Tahoma"/>
              </a:rPr>
              <a:t>• Petri adversarial: 172/173 seeds (99.42%); 0.58% false-allow after regex pre-filter</a:t>
            </a:r>
          </a:p>
          <a:p>
            <a:r>
              <a:rPr sz="900">
                <a:solidFill>
                  <a:srgbClr val="000000"/>
                </a:solidFill>
                <a:latin typeface="Tahoma"/>
              </a:rPr>
              <a:t>• Semantic sphere: 26/26 surfaces, 505 iterations (2026-05-30)</a:t>
            </a:r>
          </a:p>
          <a:p>
            <a:r>
              <a:rPr sz="900">
                <a:solidFill>
                  <a:srgbClr val="000000"/>
                </a:solidFill>
                <a:latin typeface="Tahoma"/>
              </a:rPr>
              <a:t>• Terminal-bench-core-0.1.1: 13/13 (zero governance overhead)</a:t>
            </a:r>
          </a:p>
          <a:p>
            <a:r>
              <a:rPr sz="900">
                <a:solidFill>
                  <a:srgbClr val="000000"/>
                </a:solidFill>
                <a:latin typeface="Tahoma"/>
              </a:rPr>
              <a:t>• Real-patch task harness: 5/5 SCBE vs. 0/5 baseline</a:t>
            </a:r>
          </a:p>
          <a:p>
            <a:r>
              <a:rPr sz="900">
                <a:solidFill>
                  <a:srgbClr val="000000"/>
                </a:solidFill>
                <a:latin typeface="Tahoma"/>
              </a:rPr>
              <a:t/>
            </a:r>
          </a:p>
          <a:p>
            <a:r>
              <a:rPr sz="900">
                <a:solidFill>
                  <a:srgbClr val="000000"/>
                </a:solidFill>
                <a:latin typeface="Tahoma"/>
              </a:rPr>
              <a:t>Independent derivation: Lyapunov stability, CBF, port-Hamiltonian,</a:t>
            </a:r>
          </a:p>
          <a:p>
            <a:r>
              <a:rPr sz="900">
                <a:solidFill>
                  <a:srgbClr val="000000"/>
                </a:solidFill>
                <a:latin typeface="Tahoma"/>
              </a:rPr>
              <a:t>persistent excitation, gyroscopic precession (Khalil; Marsden/Ratiu; Cannon)</a:t>
            </a:r>
          </a:p>
          <a:p>
            <a:r>
              <a:rPr sz="900">
                <a:solidFill>
                  <a:srgbClr val="000000"/>
                </a:solidFill>
                <a:latin typeface="Tahoma"/>
              </a:rPr>
              <a:t/>
            </a:r>
          </a:p>
          <a:p>
            <a:r>
              <a:rPr sz="900">
                <a:solidFill>
                  <a:srgbClr val="000000"/>
                </a:solidFill>
                <a:latin typeface="Tahoma"/>
              </a:rPr>
              <a:t>Prior government contracts: None  |  SAM: Active</a:t>
            </a:r>
          </a:p>
        </p:txBody>
      </p:sp>
      <p:sp>
        <p:nvSpPr>
          <p:cNvPr id="8" name="Text Placeholder 19"/>
          <p:cNvSpPr txBox="1">
            <a:spLocks/>
          </p:cNvSpPr>
          <p:nvPr/>
        </p:nvSpPr>
        <p:spPr>
          <a:xfrm>
            <a:off x="4705525" y="3973385"/>
            <a:ext cx="3956050" cy="2447751"/>
          </a:xfrm>
          <a:prstGeom prst="rect">
            <a:avLst/>
          </a:prstGeom>
        </p:spPr>
        <p:txBody>
          <a:bodyPr wrap="square"/>
          <a:lstStyle>
            <a:lvl1pPr marL="0" indent="0" algn="l" defTabSz="914400" rtl="0" eaLnBrk="1" latinLnBrk="0" hangingPunct="1">
              <a:spcBef>
                <a:spcPct val="20000"/>
              </a:spcBef>
              <a:buFont typeface="Arial" pitchFamily="34" charset="0"/>
              <a:buNone/>
              <a:defRPr sz="1400" kern="1200" baseline="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2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1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05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sz="900">
                <a:solidFill>
                  <a:srgbClr val="000000"/>
                </a:solidFill>
                <a:latin typeface="Tahoma"/>
              </a:rPr>
              <a:t>Phase I Schedule (16 months, OT §4021):</a:t>
            </a:r>
          </a:p>
          <a:p>
            <a:r>
              <a:rPr sz="900">
                <a:solidFill>
                  <a:srgbClr val="000000"/>
                </a:solidFill>
                <a:latin typeface="Tahoma"/>
              </a:rPr>
              <a:t>M1 (mo. 1) — Baselines; SSM calibration; IV&amp;V bundle format</a:t>
            </a:r>
          </a:p>
          <a:p>
            <a:r>
              <a:rPr sz="900">
                <a:solidFill>
                  <a:srgbClr val="000000"/>
                </a:solidFill>
                <a:latin typeface="Tahoma"/>
              </a:rPr>
              <a:t>M3 (mo. 3) — Lyapunov constants; L_H(G_t) instrumented; CDPTI live</a:t>
            </a:r>
          </a:p>
          <a:p>
            <a:r>
              <a:rPr sz="900">
                <a:solidFill>
                  <a:srgbClr val="000000"/>
                </a:solidFill>
                <a:latin typeface="Tahoma"/>
              </a:rPr>
              <a:t>M6 (mo. 6) — CDPTI demo; ≥2 NMR variants; PI meeting</a:t>
            </a:r>
          </a:p>
          <a:p>
            <a:r>
              <a:rPr sz="900">
                <a:solidFill>
                  <a:srgbClr val="000000"/>
                </a:solidFill>
                <a:latin typeface="Tahoma"/>
              </a:rPr>
              <a:t>M9 (mo. 9) — Software suite; Hammett generalization; ROMs</a:t>
            </a:r>
          </a:p>
          <a:p>
            <a:r>
              <a:rPr sz="900">
                <a:solidFill>
                  <a:srgbClr val="000000"/>
                </a:solidFill>
                <a:latin typeface="Tahoma"/>
              </a:rPr>
              <a:t>M13 (mo.13) — Baseline vs. Mixtral; PIS catalog v1; PI meeting</a:t>
            </a:r>
          </a:p>
          <a:p>
            <a:r>
              <a:rPr sz="900">
                <a:solidFill>
                  <a:srgbClr val="000000"/>
                </a:solidFill>
                <a:latin typeface="Tahoma"/>
              </a:rPr>
              <a:t>M14 (mo.14) — Computational design tool (CDT)</a:t>
            </a:r>
          </a:p>
          <a:p>
            <a:r>
              <a:rPr sz="900">
                <a:solidFill>
                  <a:srgbClr val="000000"/>
                </a:solidFill>
                <a:latin typeface="Tahoma"/>
              </a:rPr>
              <a:t>M16 (mo.16) — Final report + Phase II plan</a:t>
            </a:r>
          </a:p>
          <a:p>
            <a:r>
              <a:rPr sz="900">
                <a:solidFill>
                  <a:srgbClr val="000000"/>
                </a:solidFill>
                <a:latin typeface="Tahoma"/>
              </a:rPr>
              <a:t/>
            </a:r>
          </a:p>
          <a:p>
            <a:r>
              <a:rPr sz="900">
                <a:solidFill>
                  <a:srgbClr val="000000"/>
                </a:solidFill>
                <a:latin typeface="Tahoma"/>
              </a:rPr>
              <a:t>Key metrics:</a:t>
            </a:r>
          </a:p>
          <a:p>
            <a:r>
              <a:rPr sz="900">
                <a:solidFill>
                  <a:srgbClr val="000000"/>
                </a:solidFill>
                <a:latin typeface="Tahoma"/>
              </a:rPr>
              <a:t>MEE: emission rate (calibrated M3) | ACV: mean ≥0.90 at M9</a:t>
            </a:r>
          </a:p>
          <a:p>
            <a:r>
              <a:rPr sz="900">
                <a:solidFill>
                  <a:srgbClr val="000000"/>
                </a:solidFill>
                <a:latin typeface="Tahoma"/>
              </a:rPr>
              <a:t>CDPTI: ≥95% recall | PIS: cluster separation at M13</a:t>
            </a:r>
          </a:p>
          <a:p>
            <a:r>
              <a:rPr sz="900">
                <a:solidFill>
                  <a:srgbClr val="000000"/>
                </a:solidFill>
                <a:latin typeface="Tahoma"/>
              </a:rPr>
              <a:t/>
            </a:r>
          </a:p>
          <a:p>
            <a:r>
              <a:rPr sz="900">
                <a:solidFill>
                  <a:srgbClr val="000000"/>
                </a:solidFill>
                <a:latin typeface="Tahoma"/>
              </a:rPr>
              <a:t>Cost: $839,000 (42% of $2M cap)  |  Phase II ROM: ~$382,000</a:t>
            </a:r>
          </a:p>
          <a:p>
            <a:r>
              <a:rPr sz="900">
                <a:solidFill>
                  <a:srgbClr val="000000"/>
                </a:solidFill>
                <a:latin typeface="Tahoma"/>
              </a:rPr>
              <a:t>CAGE: 1EXD5  |  Award: OT for Research (10 U.S.C. §4021)</a:t>
            </a:r>
          </a:p>
        </p:txBody>
      </p:sp>
      <p:sp>
        <p:nvSpPr>
          <p:cNvPr id="2" name="Footer Placeholder 1"/>
          <p:cNvSpPr>
            <a:spLocks noGrp="1"/>
          </p:cNvSpPr>
          <p:nvPr>
            <p:ph type="ftr" sz="quarter" idx="4294967295"/>
          </p:nvPr>
        </p:nvSpPr>
        <p:spPr>
          <a:xfrm>
            <a:off x="5139891" y="172136"/>
            <a:ext cx="4004109" cy="487579"/>
          </a:xfrm>
        </p:spPr>
        <p:txBody>
          <a:bodyPr/>
          <a:lstStyle/>
          <a:p>
            <a:pPr>
              <a:defRPr/>
            </a:pPr>
            <a:r>
              <a:rPr lang="en-US" sz="2200" b="1" dirty="0">
                <a:solidFill>
                  <a:schemeClr val="tx1"/>
                </a:solidFill>
                <a:latin typeface="Calibri" panose="020F0502020204030204" pitchFamily="34" charset="0"/>
                <a:ea typeface="Calibri" panose="020F0502020204030204" pitchFamily="34" charset="0"/>
                <a:cs typeface="Calibri" panose="020F0502020204030204" pitchFamily="34" charset="0"/>
              </a:rPr>
              <a:t>DARPA-PA-26-05 MATHBAC</a:t>
            </a:r>
          </a:p>
          <a:p>
            <a:pPr>
              <a:defRP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Abstract Summary Slide Template</a:t>
            </a:r>
          </a:p>
        </p:txBody>
      </p:sp>
      <p:sp>
        <p:nvSpPr>
          <p:cNvPr id="9" name="Footer Placeholder 1"/>
          <p:cNvSpPr txBox="1">
            <a:spLocks/>
          </p:cNvSpPr>
          <p:nvPr/>
        </p:nvSpPr>
        <p:spPr>
          <a:xfrm>
            <a:off x="1615441" y="6559550"/>
            <a:ext cx="6049284" cy="298450"/>
          </a:xfrm>
          <a:prstGeom prst="rect">
            <a:avLst/>
          </a:prstGeom>
        </p:spPr>
        <p:txBody>
          <a:bodyPr vert="horz" wrap="square" lIns="91440" tIns="45720" rIns="91440" bIns="45720" numCol="1" anchor="ctr" anchorCtr="0" compatLnSpc="1">
            <a:prstTxWarp prst="textNoShape">
              <a:avLst/>
            </a:prstTxWarp>
          </a:bodyPr>
          <a:lstStyle>
            <a:defPPr>
              <a:defRPr lang="en-US"/>
            </a:defPPr>
            <a:lvl1pPr marL="0" algn="ctr" defTabSz="914400" rtl="0" eaLnBrk="1" latinLnBrk="0" hangingPunct="1">
              <a:defRPr sz="900" kern="1200" baseline="0">
                <a:solidFill>
                  <a:srgbClr val="898989"/>
                </a:solidFill>
                <a:latin typeface="Tahoma"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100" dirty="0">
                <a:solidFill>
                  <a:prstClr val="black"/>
                </a:solidFill>
                <a:latin typeface="Calibri" panose="020F0502020204030204" pitchFamily="34" charset="0"/>
                <a:cs typeface="Calibri" panose="020F0502020204030204" pitchFamily="34" charset="0"/>
              </a:rPr>
              <a:t>Source Selection Information – see FAR 2.101 &amp; 3.104</a:t>
            </a:r>
          </a:p>
        </p:txBody>
      </p:sp>
    </p:spTree>
    <p:extLst>
      <p:ext uri="{BB962C8B-B14F-4D97-AF65-F5344CB8AC3E}">
        <p14:creationId xmlns:p14="http://schemas.microsoft.com/office/powerpoint/2010/main" val="3769729806"/>
      </p:ext>
    </p:extLst>
  </p:cSld>
  <p:clrMapOvr>
    <a:masterClrMapping/>
  </p:clrMapOvr>
</p:sld>
</file>

<file path=ppt/theme/theme1.xml><?xml version="1.0" encoding="utf-8"?>
<a:theme xmlns:a="http://schemas.openxmlformats.org/drawingml/2006/main" name="1_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noFill/>
        <a:ln w="22225">
          <a:solidFill>
            <a:schemeClr val="tx1"/>
          </a:solidFill>
          <a:round/>
          <a:headEnd/>
          <a:tailEnd/>
        </a:ln>
        <a:extLst>
          <a:ext uri="{909E8E84-426E-40DD-AFC4-6F175D3DCCD1}">
            <a14:hiddenFill xmlns:a14="http://schemas.microsoft.com/office/drawing/2010/main">
              <a:noFill/>
            </a14:hiddenFill>
          </a:ext>
        </a:extLst>
      </a:spPr>
      <a:bodyPr/>
      <a:lst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0b59d1c-721b-47d3-9451-b79b30f3c7bf" xsi:nil="true"/>
    <Hyperlink xmlns="0cd26ea9-6aaa-409c-ab6d-4ad08ad0145d">
      <Url xsi:nil="true"/>
      <Description xsi:nil="true"/>
    </Hyperlink>
    <lcf76f155ced4ddcb4097134ff3c332f xmlns="0cd26ea9-6aaa-409c-ab6d-4ad08ad0145d">
      <Terms xmlns="http://schemas.microsoft.com/office/infopath/2007/PartnerControls"/>
    </lcf76f155ced4ddcb4097134ff3c332f>
    <SortOrder xmlns="0cd26ea9-6aaa-409c-ab6d-4ad08ad0145d" xsi:nil="true"/>
    <dateandtime xmlns="0cd26ea9-6aaa-409c-ab6d-4ad08ad0145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C9B658FCD9924439C41A369948A4EE0" ma:contentTypeVersion="20" ma:contentTypeDescription="Create a new document." ma:contentTypeScope="" ma:versionID="ecc61cc3cf998f1fca6509d688254880">
  <xsd:schema xmlns:xsd="http://www.w3.org/2001/XMLSchema" xmlns:xs="http://www.w3.org/2001/XMLSchema" xmlns:p="http://schemas.microsoft.com/office/2006/metadata/properties" xmlns:ns2="0cd26ea9-6aaa-409c-ab6d-4ad08ad0145d" xmlns:ns3="50b59d1c-721b-47d3-9451-b79b30f3c7bf" targetNamespace="http://schemas.microsoft.com/office/2006/metadata/properties" ma:root="true" ma:fieldsID="e51bb972127214d2108b82b0f260f630" ns2:_="" ns3:_="">
    <xsd:import namespace="0cd26ea9-6aaa-409c-ab6d-4ad08ad0145d"/>
    <xsd:import namespace="50b59d1c-721b-47d3-9451-b79b30f3c7b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Hyperlink"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Location" minOccurs="0"/>
                <xsd:element ref="ns2:MediaLengthInSeconds" minOccurs="0"/>
                <xsd:element ref="ns2:SortOrder" minOccurs="0"/>
                <xsd:element ref="ns2:dateandtim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d26ea9-6aaa-409c-ab6d-4ad08ad014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Hyperlink" ma:index="12" nillable="true" ma:displayName="Hyperlink" ma:format="Hyperlink" ma:internalName="Hyperlink">
      <xsd:complexType>
        <xsd:complexContent>
          <xsd:extension base="dms:URL">
            <xsd:sequence>
              <xsd:element name="Url" type="dms:ValidUrl" minOccurs="0" nillable="true"/>
              <xsd:element name="Description" type="xsd:string" nillable="true"/>
            </xsd:sequence>
          </xsd:extension>
        </xsd:complexContent>
      </xsd:complex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89aa863f-a18b-4de0-9c78-b693d194da8f"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SortOrder" ma:index="22" nillable="true" ma:displayName="Sort Order" ma:decimals="0" ma:format="Dropdown" ma:internalName="SortOrder" ma:percentage="FALSE">
      <xsd:simpleType>
        <xsd:restriction base="dms:Number"/>
      </xsd:simpleType>
    </xsd:element>
    <xsd:element name="dateandtime" ma:index="23" nillable="true" ma:displayName="date and time" ma:format="DateOnly" ma:internalName="dateandtime">
      <xsd:simpleType>
        <xsd:restriction base="dms:DateTim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0b59d1c-721b-47d3-9451-b79b30f3c7b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eb10b894-4339-4970-9fe9-a3addb5e1d27}" ma:internalName="TaxCatchAll" ma:showField="CatchAllData" ma:web="50b59d1c-721b-47d3-9451-b79b30f3c7b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86013F-9D5B-46B3-A677-3DDDC10878A6}">
  <ds:schemaRefs>
    <ds:schemaRef ds:uri="http://schemas.microsoft.com/sharepoint/v3/contenttype/forms"/>
  </ds:schemaRefs>
</ds:datastoreItem>
</file>

<file path=customXml/itemProps2.xml><?xml version="1.0" encoding="utf-8"?>
<ds:datastoreItem xmlns:ds="http://schemas.openxmlformats.org/officeDocument/2006/customXml" ds:itemID="{8EF37E45-24B4-4784-B3DC-D2C520FDAAEE}">
  <ds:schemaRefs>
    <ds:schemaRef ds:uri="http://schemas.microsoft.com/office/2006/metadata/properties"/>
    <ds:schemaRef ds:uri="http://schemas.microsoft.com/office/infopath/2007/PartnerControls"/>
    <ds:schemaRef ds:uri="50b59d1c-721b-47d3-9451-b79b30f3c7bf"/>
    <ds:schemaRef ds:uri="0cd26ea9-6aaa-409c-ab6d-4ad08ad0145d"/>
  </ds:schemaRefs>
</ds:datastoreItem>
</file>

<file path=customXml/itemProps3.xml><?xml version="1.0" encoding="utf-8"?>
<ds:datastoreItem xmlns:ds="http://schemas.openxmlformats.org/officeDocument/2006/customXml" ds:itemID="{E1E37931-18C1-4FBA-88E4-32C20C078F2D}"/>
</file>

<file path=docMetadata/LabelInfo.xml><?xml version="1.0" encoding="utf-8"?>
<clbl:labelList xmlns:clbl="http://schemas.microsoft.com/office/2020/mipLabelMetadata">
  <clbl:label id="{f84814b5-f44e-4690-9314-553e36b5f585}" enabled="0" method="" siteId="{f84814b5-f44e-4690-9314-553e36b5f585}" removed="1"/>
</clbl:labelList>
</file>

<file path=docProps/app.xml><?xml version="1.0" encoding="utf-8"?>
<Properties xmlns="http://schemas.openxmlformats.org/officeDocument/2006/extended-properties" xmlns:vt="http://schemas.openxmlformats.org/officeDocument/2006/docPropsVTypes">
  <Template>blank</Template>
  <TotalTime>2268</TotalTime>
  <Words>53</Words>
  <Application>Microsoft Office PowerPoint</Application>
  <PresentationFormat>On-screen Show (4:3)</PresentationFormat>
  <Paragraphs>11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ＭＳ Ｐゴシック</vt:lpstr>
      <vt:lpstr>ＭＳ Ｐゴシック</vt:lpstr>
      <vt:lpstr>Arial</vt:lpstr>
      <vt:lpstr>Calibri</vt:lpstr>
      <vt:lpstr>Tahoma</vt:lpstr>
      <vt:lpstr>Times New Roman</vt:lpstr>
      <vt:lpstr>1_blank</vt:lpstr>
      <vt:lpstr>Proposal Title Organization Name(s); Technical POC Name(s)</vt:lpstr>
    </vt:vector>
  </TitlesOfParts>
  <Company>Wyle Information Systems - DARPA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 Name (Acronym) Office/PM</dc:title>
  <dc:creator>Emily VanSice</dc:creator>
  <cp:lastModifiedBy>Gifford, Kelly (contr-dso)</cp:lastModifiedBy>
  <cp:revision>96</cp:revision>
  <cp:lastPrinted>2011-09-22T20:00:03Z</cp:lastPrinted>
  <dcterms:created xsi:type="dcterms:W3CDTF">2012-01-24T15:16:44Z</dcterms:created>
  <dcterms:modified xsi:type="dcterms:W3CDTF">2026-03-19T20:04:30Z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0x0101006C9B658FCD9924439C41A369948A4EE0</vt:lpwstr>
  </property>
  <property fmtid="{D5CDD505-2E9C-101B-9397-08002B2CF9AE}" pid="3" name="MediaServiceImageTags">
    <vt:lpwstr/>
  </property>
</Properties>
</file>